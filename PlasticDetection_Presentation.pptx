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D1B2A"/>
                </a:solidFill>
                <a:latin typeface="Arial"/>
              </a:defRPr>
            </a:pPr>
            <a:r>
              <a:rPr sz="1200" b="0" i="0" u="none" strike="noStrike">
                <a:solidFill>
                  <a:srgbClr val="0D1B2A"/>
                </a:solidFill>
                <a:latin typeface="Arial"/>
              </a:rPr>
              <a:t>Images per Class</a:t>
            </a:r>
          </a:p>
        </c:rich>
      </c:tx>
      <c:layout/>
      <c:overlay val="0"/>
    </c:title>
    <c:autoTitleDeleted val="0"/>
    <c:plotArea>
      <c:layout/>
      <c:barChart>
        <c:barDir val="col"/>
        <c:grouping val="clustered"/>
        <c:varyColors val="0"/>
        <c:ser>
          <c:idx val="0"/>
          <c:order val="0"/>
          <c:tx>
            <c:strRef>
              <c:f>Sheet1!$B$1</c:f>
              <c:strCache>
                <c:ptCount val="1"/>
                <c:pt idx="0">
                  <c:v>Images</c:v>
                </c:pt>
              </c:strCache>
            </c:strRef>
          </c:tx>
          <c:spPr>
            <a:solidFill>
              <a:srgbClr val="0E9AA7"/>
            </a:solidFill>
            <a:effectLst/>
          </c:spPr>
          <c:invertIfNegative val="0"/>
          <c:dLbls>
            <c:numFmt formatCode="#,##0" sourceLinked="0"/>
            <c:txPr>
              <a:bodyPr/>
              <a:lstStyle/>
              <a:p>
                <a:pPr>
                  <a:defRPr b="0" i="0" strike="noStrike" sz="1200" u="none">
                    <a:solidFill>
                      <a:srgbClr val="0D1B2A"/>
                    </a:solidFill>
                    <a:latin typeface="Arial"/>
                  </a:defRPr>
                </a:pPr>
              </a:p>
            </c:txPr>
            <c:showLegendKey val="0"/>
            <c:showVal val="1"/>
            <c:showCatName val="0"/>
            <c:showSerName val="0"/>
            <c:showPercent val="0"/>
            <c:showBubbleSize val="0"/>
            <c:showLeaderLines val="0"/>
          </c:dLbls>
          <c:dPt>
            <c:idx val="0"/>
            <c:invertIfNegative val="0"/>
            <c:bubble3D val="0"/>
            <c:spPr>
              <a:solidFill>
                <a:srgbClr val="0E9AA7"/>
              </a:solidFill>
              <a:effectLst/>
            </c:spPr>
          </c:dPt>
          <c:dPt>
            <c:idx val="1"/>
            <c:invertIfNegative val="0"/>
            <c:bubble3D val="0"/>
            <c:spPr>
              <a:solidFill>
                <a:srgbClr val="0E9AA7"/>
              </a:solidFill>
              <a:effectLst/>
            </c:spPr>
          </c:dPt>
          <c:dPt>
            <c:idx val="2"/>
            <c:invertIfNegative val="0"/>
            <c:bubble3D val="0"/>
            <c:spPr>
              <a:solidFill>
                <a:srgbClr val="0E9AA7"/>
              </a:solidFill>
              <a:effectLst/>
            </c:spPr>
          </c:dPt>
          <c:dPt>
            <c:idx val="3"/>
            <c:invertIfNegative val="0"/>
            <c:bubble3D val="0"/>
            <c:spPr>
              <a:solidFill>
                <a:srgbClr val="0E9AA7"/>
              </a:solidFill>
              <a:effectLst/>
            </c:spPr>
          </c:dPt>
          <c:dPt>
            <c:idx val="4"/>
            <c:invertIfNegative val="0"/>
            <c:bubble3D val="0"/>
            <c:spPr>
              <a:solidFill>
                <a:srgbClr val="0A8754"/>
              </a:solidFill>
              <a:effectLst/>
            </c:spPr>
          </c:dPt>
          <c:dPt>
            <c:idx val="5"/>
            <c:invertIfNegative val="0"/>
            <c:bubble3D val="0"/>
            <c:spPr>
              <a:solidFill>
                <a:srgbClr val="64748B"/>
              </a:solidFill>
              <a:effectLst/>
            </c:spPr>
          </c:dPt>
          <c:cat>
            <c:multiLvlStrRef>
              <c:f>Sheet1!$A$2:$A$7</c:f>
              <c:multiLvlStrCache>
                <c:ptCount val="6"/>
                <c:lvl>
                  <c:pt idx="0">
                    <c:v>Cardboard</c:v>
                  </c:pt>
                  <c:pt idx="1">
                    <c:v>Glass</c:v>
                  </c:pt>
                  <c:pt idx="2">
                    <c:v>Metal</c:v>
                  </c:pt>
                  <c:pt idx="3">
                    <c:v>Paper</c:v>
                  </c:pt>
                  <c:pt idx="4">
                    <c:v>Plastic</c:v>
                  </c:pt>
                  <c:pt idx="5">
                    <c:v>Trash</c:v>
                  </c:pt>
                </c:lvl>
              </c:multiLvlStrCache>
            </c:multiLvlStrRef>
          </c:cat>
          <c:val>
            <c:numRef>
              <c:f>Sheet1!$B$2:$B$7</c:f>
              <c:numCache>
                <c:formatCode>General</c:formatCode>
                <c:ptCount val="6"/>
                <c:pt idx="0">
                  <c:v>403</c:v>
                </c:pt>
                <c:pt idx="1">
                  <c:v>501</c:v>
                </c:pt>
                <c:pt idx="2">
                  <c:v>410</c:v>
                </c:pt>
                <c:pt idx="3">
                  <c:v>594</c:v>
                </c:pt>
                <c:pt idx="4">
                  <c:v>482</c:v>
                </c:pt>
                <c:pt idx="5">
                  <c:v>137</c:v>
                </c:pt>
              </c:numCache>
            </c:numRef>
          </c:val>
        </c:ser>
        <c:dLbls>
          <c:numFmt formatCode="#,##0" sourceLinked="0"/>
          <c:txPr>
            <a:bodyPr/>
            <a:lstStyle/>
            <a:p>
              <a:pPr>
                <a:defRPr b="0" i="0" strike="noStrike" sz="1200" u="none">
                  <a:solidFill>
                    <a:srgbClr val="0D1B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4F8F7"/>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I'm presenting Phase 2 of my deep learning project — using computer vision to automatically detect plastic waste from images. This has real environmental implications: automated waste sorting systems, recycling line automation, and environmental monitoring. Let me walk you through what we did, what we found, and what we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matter? Plastic pollution is one of the most pressing environmental challenges of our time. Manual waste sorting is costly and inconsistent. If we can train a neural network to reliably detect plastic from a photo, we unlock the potential for automated recycling systems and smart waste bins. Our task: binary classification — plastic vs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TrashNet dataset — a publicly available collection of 2,527 images across 6 waste categories. We re-framed the problem as binary classification: plastic versus non-plastic. This gave us 482 plastic images against 2,045 non-plastic. That's a 4.2 to 1 imbalance, which turned out to be a significant challenge for some of our models — you'll see this show up in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three models to allow for a fair comparison. First, a custom CNN built from scratch — this serves as our baseline. Second, EfficientNetB0 with transfer learning from ImageNet, which we froze initially then fine-tuned. Third, MobileNetV2, another transfer learning model known for efficiency and strong performance on small datasets. All three used the same 80/20 train-test split, identical augmentation pipeline — flipping, rotation, zoom — and the Adam optimizer.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the training curves — this is where the first big differences emerged. The Custom CNN learned, but its validation loss was all over the place — huge spike at epoch 16, showing instability. EfficientNetB0 was the surprise underperformer: both its accuracy lines stuck near 80% from epoch 1, and the loss curves crossed and diverged oddly — a sign the model got stuck predicting the majority class. MobileNetV2 told a completely different story: clean convergence, training accuracy rising to 99%, validation settling at 96%, with loss steadily decreasing after epoch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headline numbers. MobileNetV2 dominated across every metric: 94.2% accuracy, 83% precision, 87.7% recall, 85.3% F1-score, and an AUC of 0.979. The Custom CNN achieved 84% accuracy but only 31.5% recall — it missed most plastic items. EfficientNetB0 was a total failure on this task: it predicted everything as non-plastic, achieving 0 on precision, recall and F1 for plastic detection, even though accuracy looked okay because non-plastic is the majority class. This is exactly why accuracy alone is not enough to evaluate classifiers on imbalanced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matrices confirm the story. MobileNetV2 correctly identified 64 of the 73 plastic items — only 9 missed, and 13 false alarms. The Custom CNN only found 23 of 73 plastic items — it's too conservative, defaulting to 'non-plastic' because that's the safe majority-class bet. EfficientNetB0: 0 true positives, 0 false positives — it literally never predicted plastic. The ROC curves capture this: MobileNetV2 achieves an AUC of 0.979, nearly perfect. The Custom CNN at 0.85 shows it has discriminative ability but poor calibration. EfficientNetB0 at 0.42 is actually worse than random — which indicates a deeper training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the model's decision-making, we applied Grad-CAM — gradient-weighted class activation maps. This technique highlights which regions of the image the model considers most important for its prediction. For correct plastic detections, the model focused tightly on the object body — particularly the surface texture of bottles and containers. That's the right signal. However, where it went wrong — on transparent plastics and juice cartons — the model's attention drifted to labels, edges, or background. This is a known challenge: transparent materials don't have the strong texture cues the model learned to associate with plastic. This points to a clear direction for future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MobileNetV2 is the clear winner and the model we'd recommend for any deployment. It achieves 94.2% accuracy with an F1 score of 85.3% and near-perfect AUC. The most important lesson from this project is about class imbalance — EfficientNetB0's failure showed us that a model can look accurate while being completely useless for the actual task. Going forward, we'd address the imbalance directly through class weighting or oversampling, expand the dataset to include more transparent plastics, and look at deploying MobileNetV2 in a real-time prototype. Thank you —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583680" y="-1097280"/>
            <a:ext cx="4572000" cy="4572000"/>
          </a:xfrm>
          <a:prstGeom prst="ellipse">
            <a:avLst/>
          </a:prstGeom>
          <a:solidFill>
            <a:srgbClr val="0A8754">
              <a:alpha val="20000"/>
            </a:srgbClr>
          </a:solidFill>
          <a:ln/>
        </p:spPr>
      </p:sp>
      <p:sp>
        <p:nvSpPr>
          <p:cNvPr id="3" name="Shape 1"/>
          <p:cNvSpPr/>
          <p:nvPr/>
        </p:nvSpPr>
        <p:spPr>
          <a:xfrm>
            <a:off x="-1371600" y="3200400"/>
            <a:ext cx="3200400" cy="3200400"/>
          </a:xfrm>
          <a:prstGeom prst="ellipse">
            <a:avLst/>
          </a:prstGeom>
          <a:solidFill>
            <a:srgbClr val="0E9AA7">
              <a:alpha val="18000"/>
            </a:srgbClr>
          </a:solidFill>
          <a:ln/>
        </p:spPr>
      </p:sp>
      <p:sp>
        <p:nvSpPr>
          <p:cNvPr id="4" name="Text 2"/>
          <p:cNvSpPr/>
          <p:nvPr/>
        </p:nvSpPr>
        <p:spPr>
          <a:xfrm>
            <a:off x="548640" y="914400"/>
            <a:ext cx="8046720" cy="640080"/>
          </a:xfrm>
          <a:prstGeom prst="rect">
            <a:avLst/>
          </a:prstGeom>
          <a:noFill/>
          <a:ln/>
        </p:spPr>
        <p:txBody>
          <a:bodyPr wrap="square" lIns="0" tIns="0" rIns="0" bIns="0" rtlCol="0" anchor="ctr"/>
          <a:lstStyle/>
          <a:p>
            <a:pPr indent="0" marL="0">
              <a:buNone/>
            </a:pPr>
            <a:r>
              <a:rPr lang="en-US" sz="3800" b="1" spc="400" kern="0" dirty="0">
                <a:solidFill>
                  <a:srgbClr val="0A8754"/>
                </a:solidFill>
                <a:latin typeface="Calibri" pitchFamily="34" charset="0"/>
                <a:ea typeface="Calibri" pitchFamily="34" charset="-122"/>
                <a:cs typeface="Calibri" pitchFamily="34" charset="-120"/>
              </a:rPr>
              <a:t>PLASTIC DETECTION</a:t>
            </a:r>
            <a:endParaRPr lang="en-US" sz="3800" dirty="0"/>
          </a:p>
        </p:txBody>
      </p:sp>
      <p:sp>
        <p:nvSpPr>
          <p:cNvPr id="5" name="Text 3"/>
          <p:cNvSpPr/>
          <p:nvPr/>
        </p:nvSpPr>
        <p:spPr>
          <a:xfrm>
            <a:off x="548640" y="1691640"/>
            <a:ext cx="7315200" cy="502920"/>
          </a:xfrm>
          <a:prstGeom prst="rect">
            <a:avLst/>
          </a:prstGeom>
          <a:noFill/>
          <a:ln/>
        </p:spPr>
        <p:txBody>
          <a:bodyPr wrap="square" lIns="0" tIns="0" rIns="0" bIns="0" rtlCol="0" anchor="ctr"/>
          <a:lstStyle/>
          <a:p>
            <a:pPr indent="0" marL="0">
              <a:buNone/>
            </a:pPr>
            <a:r>
              <a:rPr lang="en-US" sz="2000" dirty="0">
                <a:solidFill>
                  <a:srgbClr val="0E9AA7"/>
                </a:solidFill>
                <a:latin typeface="Calibri" pitchFamily="34" charset="0"/>
                <a:ea typeface="Calibri" pitchFamily="34" charset="-122"/>
                <a:cs typeface="Calibri" pitchFamily="34" charset="-120"/>
              </a:rPr>
              <a:t>Using Deep Learning &amp; Computer Vision</a:t>
            </a:r>
            <a:endParaRPr lang="en-US" sz="2000" dirty="0"/>
          </a:p>
        </p:txBody>
      </p:sp>
      <p:sp>
        <p:nvSpPr>
          <p:cNvPr id="6" name="Text 4"/>
          <p:cNvSpPr/>
          <p:nvPr/>
        </p:nvSpPr>
        <p:spPr>
          <a:xfrm>
            <a:off x="548640" y="2331720"/>
            <a:ext cx="8229600" cy="411480"/>
          </a:xfrm>
          <a:prstGeom prst="rect">
            <a:avLst/>
          </a:prstGeom>
          <a:noFill/>
          <a:ln/>
        </p:spPr>
        <p:txBody>
          <a:bodyPr wrap="square" lIns="0" tIns="0" rIns="0" bIns="0" rtlCol="0" anchor="ctr"/>
          <a:lstStyle/>
          <a:p>
            <a:pPr indent="0" marL="0">
              <a:buNone/>
            </a:pPr>
            <a:r>
              <a:rPr lang="en-US" sz="1300" dirty="0">
                <a:solidFill>
                  <a:srgbClr val="AAC8C4"/>
                </a:solidFill>
                <a:latin typeface="Calibri" pitchFamily="34" charset="0"/>
                <a:ea typeface="Calibri" pitchFamily="34" charset="-122"/>
                <a:cs typeface="Calibri" pitchFamily="34" charset="-120"/>
              </a:rPr>
              <a:t>TrashNet Dataset  ·  Binary Classification  ·  CNN vs EfficientNetB0 vs MobileNetV2</a:t>
            </a:r>
            <a:endParaRPr lang="en-US" sz="1300" dirty="0"/>
          </a:p>
        </p:txBody>
      </p:sp>
      <p:sp>
        <p:nvSpPr>
          <p:cNvPr id="7" name="Shape 5"/>
          <p:cNvSpPr/>
          <p:nvPr/>
        </p:nvSpPr>
        <p:spPr>
          <a:xfrm>
            <a:off x="548640" y="2880360"/>
            <a:ext cx="2011680" cy="45720"/>
          </a:xfrm>
          <a:prstGeom prst="rect">
            <a:avLst/>
          </a:prstGeom>
          <a:solidFill>
            <a:srgbClr val="0A8754"/>
          </a:solidFill>
          <a:ln/>
        </p:spPr>
      </p:sp>
      <p:sp>
        <p:nvSpPr>
          <p:cNvPr id="8" name="Text 6"/>
          <p:cNvSpPr/>
          <p:nvPr/>
        </p:nvSpPr>
        <p:spPr>
          <a:xfrm>
            <a:off x="548640" y="3154680"/>
            <a:ext cx="8229600" cy="36576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Phase 2 Project  ·  Deep Learning for Environmental Impact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400" b="1" dirty="0">
                <a:solidFill>
                  <a:srgbClr val="0D1B2A"/>
                </a:solidFill>
                <a:latin typeface="Calibri" pitchFamily="34" charset="0"/>
                <a:ea typeface="Calibri" pitchFamily="34" charset="-122"/>
                <a:cs typeface="Calibri" pitchFamily="34" charset="-120"/>
              </a:rPr>
              <a:t>The Problem</a:t>
            </a:r>
            <a:endParaRPr lang="en-US" sz="3400" dirty="0"/>
          </a:p>
        </p:txBody>
      </p:sp>
      <p:sp>
        <p:nvSpPr>
          <p:cNvPr id="3" name="Text 1"/>
          <p:cNvSpPr/>
          <p:nvPr/>
        </p:nvSpPr>
        <p:spPr>
          <a:xfrm>
            <a:off x="457200" y="914400"/>
            <a:ext cx="8229600" cy="41148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Can a machine learn to distinguish plastic from non-plastic waste?</a:t>
            </a:r>
            <a:endParaRPr lang="en-US" sz="1600" dirty="0"/>
          </a:p>
        </p:txBody>
      </p:sp>
      <p:sp>
        <p:nvSpPr>
          <p:cNvPr id="4" name="Shape 2"/>
          <p:cNvSpPr/>
          <p:nvPr/>
        </p:nvSpPr>
        <p:spPr>
          <a:xfrm>
            <a:off x="457200" y="1508760"/>
            <a:ext cx="2651760" cy="3017520"/>
          </a:xfrm>
          <a:prstGeom prst="roundRect">
            <a:avLst>
              <a:gd name="adj" fmla="val 3448"/>
            </a:avLst>
          </a:prstGeom>
          <a:solidFill>
            <a:srgbClr val="FFFFFF"/>
          </a:solidFill>
          <a:ln/>
          <a:effectLst>
            <a:outerShdw sx="100000" sy="100000" kx="0" ky="0" algn="bl" rotWithShape="0" blurRad="101600" dist="25400" dir="2700000">
              <a:srgbClr val="000000">
                <a:alpha val="12000"/>
              </a:srgbClr>
            </a:outerShdw>
          </a:effectLst>
        </p:spPr>
      </p:sp>
      <p:sp>
        <p:nvSpPr>
          <p:cNvPr id="5" name="Text 3"/>
          <p:cNvSpPr/>
          <p:nvPr/>
        </p:nvSpPr>
        <p:spPr>
          <a:xfrm>
            <a:off x="457200" y="1645920"/>
            <a:ext cx="2651760" cy="64008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594360" y="2331720"/>
            <a:ext cx="2377440" cy="411480"/>
          </a:xfrm>
          <a:prstGeom prst="rect">
            <a:avLst/>
          </a:prstGeom>
          <a:noFill/>
          <a:ln/>
        </p:spPr>
        <p:txBody>
          <a:bodyPr wrap="square" lIns="0" tIns="0" rIns="0" bIns="0"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Recycling Automation</a:t>
            </a:r>
            <a:endParaRPr lang="en-US" sz="1300" dirty="0"/>
          </a:p>
        </p:txBody>
      </p:sp>
      <p:sp>
        <p:nvSpPr>
          <p:cNvPr id="7" name="Text 5"/>
          <p:cNvSpPr/>
          <p:nvPr/>
        </p:nvSpPr>
        <p:spPr>
          <a:xfrm>
            <a:off x="594360" y="2834640"/>
            <a:ext cx="2377440" cy="1463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Manual sorting is slow, expensive, and error-prone. AI vision can process items at conveyor-belt speed.</a:t>
            </a:r>
            <a:endParaRPr lang="en-US" sz="1100" dirty="0"/>
          </a:p>
        </p:txBody>
      </p:sp>
      <p:sp>
        <p:nvSpPr>
          <p:cNvPr id="8" name="Shape 6"/>
          <p:cNvSpPr/>
          <p:nvPr/>
        </p:nvSpPr>
        <p:spPr>
          <a:xfrm>
            <a:off x="3291840" y="1508760"/>
            <a:ext cx="2651760" cy="3017520"/>
          </a:xfrm>
          <a:prstGeom prst="roundRect">
            <a:avLst>
              <a:gd name="adj" fmla="val 3448"/>
            </a:avLst>
          </a:prstGeom>
          <a:solidFill>
            <a:srgbClr val="FFFFFF"/>
          </a:solidFill>
          <a:ln/>
          <a:effectLst>
            <a:outerShdw sx="100000" sy="100000" kx="0" ky="0" algn="bl" rotWithShape="0" blurRad="101600" dist="25400" dir="2700000">
              <a:srgbClr val="000000">
                <a:alpha val="12000"/>
              </a:srgbClr>
            </a:outerShdw>
          </a:effectLst>
        </p:spPr>
      </p:sp>
      <p:sp>
        <p:nvSpPr>
          <p:cNvPr id="9" name="Text 7"/>
          <p:cNvSpPr/>
          <p:nvPr/>
        </p:nvSpPr>
        <p:spPr>
          <a:xfrm>
            <a:off x="3291840" y="1645920"/>
            <a:ext cx="2651760" cy="64008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29000" y="2331720"/>
            <a:ext cx="2377440" cy="411480"/>
          </a:xfrm>
          <a:prstGeom prst="rect">
            <a:avLst/>
          </a:prstGeom>
          <a:noFill/>
          <a:ln/>
        </p:spPr>
        <p:txBody>
          <a:bodyPr wrap="square" lIns="0" tIns="0" rIns="0" bIns="0"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Environmental Impact</a:t>
            </a:r>
            <a:endParaRPr lang="en-US" sz="1300" dirty="0"/>
          </a:p>
        </p:txBody>
      </p:sp>
      <p:sp>
        <p:nvSpPr>
          <p:cNvPr id="11" name="Text 9"/>
          <p:cNvSpPr/>
          <p:nvPr/>
        </p:nvSpPr>
        <p:spPr>
          <a:xfrm>
            <a:off x="3429000" y="2834640"/>
            <a:ext cx="2377440" cy="1463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Plastic pollution is a global crisis. Accurate detection enables smarter waste management systems.</a:t>
            </a:r>
            <a:endParaRPr lang="en-US" sz="1100" dirty="0"/>
          </a:p>
        </p:txBody>
      </p:sp>
      <p:sp>
        <p:nvSpPr>
          <p:cNvPr id="12" name="Shape 10"/>
          <p:cNvSpPr/>
          <p:nvPr/>
        </p:nvSpPr>
        <p:spPr>
          <a:xfrm>
            <a:off x="6126480" y="1508760"/>
            <a:ext cx="2651760" cy="3017520"/>
          </a:xfrm>
          <a:prstGeom prst="roundRect">
            <a:avLst>
              <a:gd name="adj" fmla="val 3448"/>
            </a:avLst>
          </a:prstGeom>
          <a:solidFill>
            <a:srgbClr val="FFFFFF"/>
          </a:solidFill>
          <a:ln/>
          <a:effectLst>
            <a:outerShdw sx="100000" sy="100000" kx="0" ky="0" algn="bl" rotWithShape="0" blurRad="101600" dist="25400" dir="2700000">
              <a:srgbClr val="000000">
                <a:alpha val="12000"/>
              </a:srgbClr>
            </a:outerShdw>
          </a:effectLst>
        </p:spPr>
      </p:sp>
      <p:sp>
        <p:nvSpPr>
          <p:cNvPr id="13" name="Text 11"/>
          <p:cNvSpPr/>
          <p:nvPr/>
        </p:nvSpPr>
        <p:spPr>
          <a:xfrm>
            <a:off x="6126480" y="1645920"/>
            <a:ext cx="2651760" cy="64008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63640" y="2331720"/>
            <a:ext cx="2377440" cy="411480"/>
          </a:xfrm>
          <a:prstGeom prst="rect">
            <a:avLst/>
          </a:prstGeom>
          <a:noFill/>
          <a:ln/>
        </p:spPr>
        <p:txBody>
          <a:bodyPr wrap="square" lIns="0" tIns="0" rIns="0" bIns="0"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Image Classification</a:t>
            </a:r>
            <a:endParaRPr lang="en-US" sz="1300" dirty="0"/>
          </a:p>
        </p:txBody>
      </p:sp>
      <p:sp>
        <p:nvSpPr>
          <p:cNvPr id="15" name="Text 13"/>
          <p:cNvSpPr/>
          <p:nvPr/>
        </p:nvSpPr>
        <p:spPr>
          <a:xfrm>
            <a:off x="6263640" y="2834640"/>
            <a:ext cx="2377440" cy="1463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Deep learning excels at visual recognition — the perfect tool for identifying material types in waste.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400" b="1" dirty="0">
                <a:solidFill>
                  <a:srgbClr val="0D1B2A"/>
                </a:solidFill>
                <a:latin typeface="Calibri" pitchFamily="34" charset="0"/>
                <a:ea typeface="Calibri" pitchFamily="34" charset="-122"/>
                <a:cs typeface="Calibri" pitchFamily="34" charset="-120"/>
              </a:rPr>
              <a:t>The Dataset: TrashNet</a:t>
            </a:r>
            <a:endParaRPr lang="en-US" sz="3400" dirty="0"/>
          </a:p>
        </p:txBody>
      </p:sp>
      <p:sp>
        <p:nvSpPr>
          <p:cNvPr id="3" name="Text 1"/>
          <p:cNvSpPr/>
          <p:nvPr/>
        </p:nvSpPr>
        <p:spPr>
          <a:xfrm>
            <a:off x="457200" y="1005840"/>
            <a:ext cx="4206240" cy="3474720"/>
          </a:xfrm>
          <a:prstGeom prst="rect">
            <a:avLst/>
          </a:prstGeom>
          <a:noFill/>
          <a:ln/>
        </p:spPr>
        <p:txBody>
          <a:bodyPr wrap="square" lIns="101600" tIns="101600" rIns="101600" bIns="10160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6 original classes:
</a:t>
            </a:r>
            <a:pPr indent="0" marL="0">
              <a:buNone/>
            </a:pPr>
            <a:r>
              <a:rPr lang="en-US" sz="1300" dirty="0">
                <a:solidFill>
                  <a:srgbClr val="64748B"/>
                </a:solidFill>
                <a:latin typeface="Calibri" pitchFamily="34" charset="0"/>
                <a:ea typeface="Calibri" pitchFamily="34" charset="-122"/>
                <a:cs typeface="Calibri" pitchFamily="34" charset="-120"/>
              </a:rPr>
              <a:t>Cardboard (403)  ·  Glass (501)  ·  Metal (410)</a:t>
            </a:r>
            <a:endParaRPr lang="en-US" sz="1300" dirty="0"/>
          </a:p>
          <a:p>
            <a:pPr indent="0" marL="0">
              <a:buNone/>
            </a:pPr>
            <a:r>
              <a:rPr lang="en-US" sz="1300" dirty="0">
                <a:solidFill>
                  <a:srgbClr val="64748B"/>
                </a:solidFill>
                <a:latin typeface="Calibri" pitchFamily="34" charset="0"/>
                <a:ea typeface="Calibri" pitchFamily="34" charset="-122"/>
                <a:cs typeface="Calibri" pitchFamily="34" charset="-120"/>
              </a:rPr>
              <a:t>Paper (594)  ·  Plastic (482)  ·  Trash (137)</a:t>
            </a:r>
            <a:endParaRPr lang="en-US" sz="1300" dirty="0"/>
          </a:p>
          <a:p>
            <a:pPr indent="0" marL="0">
              <a:buNone/>
            </a:pPr>
            <a:r>
              <a:rPr lang="en-US" sz="1300" b="1" dirty="0">
                <a:solidFill>
                  <a:srgbClr val="0D1B2A"/>
                </a:solidFill>
                <a:latin typeface="Calibri" pitchFamily="34" charset="0"/>
                <a:ea typeface="Calibri" pitchFamily="34" charset="-122"/>
                <a:cs typeface="Calibri" pitchFamily="34" charset="-120"/>
              </a:rPr>
              <a:t>
Binary re-labelling:
</a:t>
            </a:r>
            <a:pPr indent="0" marL="0">
              <a:buNone/>
            </a:pPr>
            <a:r>
              <a:rPr lang="en-US" sz="1300" dirty="0">
                <a:solidFill>
                  <a:srgbClr val="64748B"/>
                </a:solidFill>
                <a:latin typeface="Calibri" pitchFamily="34" charset="0"/>
                <a:ea typeface="Calibri" pitchFamily="34" charset="-122"/>
                <a:cs typeface="Calibri" pitchFamily="34" charset="-120"/>
              </a:rPr>
              <a:t>Plastic → PLASTIC (482 images)</a:t>
            </a:r>
            <a:endParaRPr lang="en-US" sz="1300" dirty="0"/>
          </a:p>
          <a:p>
            <a:pPr indent="0" marL="0">
              <a:buNone/>
            </a:pPr>
            <a:r>
              <a:rPr lang="en-US" sz="1300" dirty="0">
                <a:solidFill>
                  <a:srgbClr val="64748B"/>
                </a:solidFill>
                <a:latin typeface="Calibri" pitchFamily="34" charset="0"/>
                <a:ea typeface="Calibri" pitchFamily="34" charset="-122"/>
                <a:cs typeface="Calibri" pitchFamily="34" charset="-120"/>
              </a:rPr>
              <a:t>All others → NON-PLASTIC (2,045 images)</a:t>
            </a:r>
            <a:endParaRPr lang="en-US" sz="1300" dirty="0"/>
          </a:p>
          <a:p>
            <a:pPr indent="0" marL="0">
              <a:buNone/>
            </a:pPr>
            <a:r>
              <a:rPr lang="en-US" sz="1300" b="1" dirty="0">
                <a:solidFill>
                  <a:srgbClr val="C0392B"/>
                </a:solidFill>
                <a:latin typeface="Calibri" pitchFamily="34" charset="0"/>
                <a:ea typeface="Calibri" pitchFamily="34" charset="-122"/>
                <a:cs typeface="Calibri" pitchFamily="34" charset="-120"/>
              </a:rPr>
              <a:t>
Key challenge:
</a:t>
            </a:r>
            <a:pPr indent="0" marL="0">
              <a:buNone/>
            </a:pPr>
            <a:r>
              <a:rPr lang="en-US" sz="1300" dirty="0">
                <a:solidFill>
                  <a:srgbClr val="64748B"/>
                </a:solidFill>
                <a:latin typeface="Calibri" pitchFamily="34" charset="0"/>
                <a:ea typeface="Calibri" pitchFamily="34" charset="-122"/>
                <a:cs typeface="Calibri" pitchFamily="34" charset="-120"/>
              </a:rPr>
              <a:t>  Class imbalance ~4.2 : 1</a:t>
            </a:r>
            <a:endParaRPr lang="en-US" sz="1300" dirty="0"/>
          </a:p>
          <a:p>
            <a:pPr indent="0" marL="0">
              <a:buNone/>
            </a:pPr>
            <a:r>
              <a:rPr lang="en-US" sz="1300" dirty="0">
                <a:solidFill>
                  <a:srgbClr val="64748B"/>
                </a:solidFill>
                <a:latin typeface="Calibri" pitchFamily="34" charset="0"/>
                <a:ea typeface="Calibri" pitchFamily="34" charset="-122"/>
                <a:cs typeface="Calibri" pitchFamily="34" charset="-120"/>
              </a:rPr>
              <a:t>(non-plastic vastly outnumbers plastic)</a:t>
            </a:r>
            <a:endParaRPr lang="en-US" sz="1300" dirty="0"/>
          </a:p>
        </p:txBody>
      </p:sp>
      <p:graphicFrame>
        <p:nvGraphicFramePr>
          <p:cNvPr id="4" name="Chart 0" descr=""/>
          <p:cNvGraphicFramePr/>
          <p:nvPr/>
        </p:nvGraphicFramePr>
        <p:xfrm>
          <a:off x="4937760" y="822960"/>
          <a:ext cx="3840480" cy="32004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Our Approach</a:t>
            </a:r>
            <a:endParaRPr lang="en-US" sz="3400" dirty="0"/>
          </a:p>
        </p:txBody>
      </p:sp>
      <p:sp>
        <p:nvSpPr>
          <p:cNvPr id="3" name="Text 1"/>
          <p:cNvSpPr/>
          <p:nvPr/>
        </p:nvSpPr>
        <p:spPr>
          <a:xfrm>
            <a:off x="457200" y="868680"/>
            <a:ext cx="8229600" cy="365760"/>
          </a:xfrm>
          <a:prstGeom prst="rect">
            <a:avLst/>
          </a:prstGeom>
          <a:noFill/>
          <a:ln/>
        </p:spPr>
        <p:txBody>
          <a:bodyPr wrap="square" lIns="0" tIns="0" rIns="0" bIns="0" rtlCol="0" anchor="ctr"/>
          <a:lstStyle/>
          <a:p>
            <a:pPr indent="0" marL="0">
              <a:buNone/>
            </a:pPr>
            <a:r>
              <a:rPr lang="en-US" sz="1500" i="1" dirty="0">
                <a:solidFill>
                  <a:srgbClr val="AAC8C4"/>
                </a:solidFill>
                <a:latin typeface="Calibri" pitchFamily="34" charset="0"/>
                <a:ea typeface="Calibri" pitchFamily="34" charset="-122"/>
                <a:cs typeface="Calibri" pitchFamily="34" charset="-120"/>
              </a:rPr>
              <a:t>Three models trained &amp; compared on identical data splits</a:t>
            </a:r>
            <a:endParaRPr lang="en-US" sz="1500" dirty="0"/>
          </a:p>
        </p:txBody>
      </p:sp>
      <p:sp>
        <p:nvSpPr>
          <p:cNvPr id="4" name="Shape 2"/>
          <p:cNvSpPr/>
          <p:nvPr/>
        </p:nvSpPr>
        <p:spPr>
          <a:xfrm>
            <a:off x="457200" y="1417320"/>
            <a:ext cx="2651760" cy="3383280"/>
          </a:xfrm>
          <a:prstGeom prst="roundRect">
            <a:avLst>
              <a:gd name="adj" fmla="val 3448"/>
            </a:avLst>
          </a:prstGeom>
          <a:solidFill>
            <a:srgbClr val="1A2B3C"/>
          </a:solidFill>
          <a:ln/>
          <a:effectLst>
            <a:outerShdw sx="100000" sy="100000" kx="0" ky="0" algn="bl" rotWithShape="0" blurRad="101600" dist="25400" dir="2700000">
              <a:srgbClr val="000000">
                <a:alpha val="12000"/>
              </a:srgbClr>
            </a:outerShdw>
          </a:effectLst>
        </p:spPr>
      </p:sp>
      <p:sp>
        <p:nvSpPr>
          <p:cNvPr id="5" name="Shape 3"/>
          <p:cNvSpPr/>
          <p:nvPr/>
        </p:nvSpPr>
        <p:spPr>
          <a:xfrm>
            <a:off x="457200" y="1417320"/>
            <a:ext cx="2651760" cy="457200"/>
          </a:xfrm>
          <a:prstGeom prst="roundRect">
            <a:avLst>
              <a:gd name="adj" fmla="val 20000"/>
            </a:avLst>
          </a:prstGeom>
          <a:solidFill>
            <a:srgbClr val="0E9AA7"/>
          </a:solidFill>
          <a:ln/>
        </p:spPr>
      </p:sp>
      <p:sp>
        <p:nvSpPr>
          <p:cNvPr id="6" name="Text 4"/>
          <p:cNvSpPr/>
          <p:nvPr/>
        </p:nvSpPr>
        <p:spPr>
          <a:xfrm>
            <a:off x="548640" y="1463040"/>
            <a:ext cx="24688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Custom CNN</a:t>
            </a:r>
            <a:endParaRPr lang="en-US" sz="1400" dirty="0"/>
          </a:p>
        </p:txBody>
      </p:sp>
      <p:sp>
        <p:nvSpPr>
          <p:cNvPr id="7" name="Text 5"/>
          <p:cNvSpPr/>
          <p:nvPr/>
        </p:nvSpPr>
        <p:spPr>
          <a:xfrm>
            <a:off x="640080" y="2011680"/>
            <a:ext cx="2286000" cy="411480"/>
          </a:xfrm>
          <a:prstGeom prst="rect">
            <a:avLst/>
          </a:prstGeom>
          <a:noFill/>
          <a:ln/>
        </p:spPr>
        <p:txBody>
          <a:bodyPr wrap="square" lIns="0" tIns="0" rIns="0" bIns="0" rtlCol="0" anchor="ctr"/>
          <a:lstStyle/>
          <a:p>
            <a:pPr indent="0" marL="0">
              <a:buNone/>
            </a:pPr>
            <a:r>
              <a:rPr lang="en-US" sz="1150" dirty="0">
                <a:solidFill>
                  <a:srgbClr val="C8D8E4"/>
                </a:solidFill>
                <a:latin typeface="Calibri" pitchFamily="34" charset="0"/>
                <a:ea typeface="Calibri" pitchFamily="34" charset="-122"/>
                <a:cs typeface="Calibri" pitchFamily="34" charset="-120"/>
              </a:rPr>
              <a:t>▸  Built from scratch</a:t>
            </a:r>
            <a:endParaRPr lang="en-US" sz="1150" dirty="0"/>
          </a:p>
        </p:txBody>
      </p:sp>
      <p:sp>
        <p:nvSpPr>
          <p:cNvPr id="8" name="Text 6"/>
          <p:cNvSpPr/>
          <p:nvPr/>
        </p:nvSpPr>
        <p:spPr>
          <a:xfrm>
            <a:off x="640080" y="2487168"/>
            <a:ext cx="2286000" cy="411480"/>
          </a:xfrm>
          <a:prstGeom prst="rect">
            <a:avLst/>
          </a:prstGeom>
          <a:noFill/>
          <a:ln/>
        </p:spPr>
        <p:txBody>
          <a:bodyPr wrap="square" lIns="0" tIns="0" rIns="0" bIns="0" rtlCol="0" anchor="ctr"/>
          <a:lstStyle/>
          <a:p>
            <a:pPr indent="0" marL="0">
              <a:buNone/>
            </a:pPr>
            <a:r>
              <a:rPr lang="en-US" sz="1150" dirty="0">
                <a:solidFill>
                  <a:srgbClr val="C8D8E4"/>
                </a:solidFill>
                <a:latin typeface="Calibri" pitchFamily="34" charset="0"/>
                <a:ea typeface="Calibri" pitchFamily="34" charset="-122"/>
                <a:cs typeface="Calibri" pitchFamily="34" charset="-120"/>
              </a:rPr>
              <a:t>▸  3× Conv blocks + MaxPool</a:t>
            </a:r>
            <a:endParaRPr lang="en-US" sz="1150" dirty="0"/>
          </a:p>
        </p:txBody>
      </p:sp>
      <p:sp>
        <p:nvSpPr>
          <p:cNvPr id="9" name="Text 7"/>
          <p:cNvSpPr/>
          <p:nvPr/>
        </p:nvSpPr>
        <p:spPr>
          <a:xfrm>
            <a:off x="640080" y="2962656"/>
            <a:ext cx="2286000" cy="411480"/>
          </a:xfrm>
          <a:prstGeom prst="rect">
            <a:avLst/>
          </a:prstGeom>
          <a:noFill/>
          <a:ln/>
        </p:spPr>
        <p:txBody>
          <a:bodyPr wrap="square" lIns="0" tIns="0" rIns="0" bIns="0" rtlCol="0" anchor="ctr"/>
          <a:lstStyle/>
          <a:p>
            <a:pPr indent="0" marL="0">
              <a:buNone/>
            </a:pPr>
            <a:r>
              <a:rPr lang="en-US" sz="1150" dirty="0">
                <a:solidFill>
                  <a:srgbClr val="C8D8E4"/>
                </a:solidFill>
                <a:latin typeface="Calibri" pitchFamily="34" charset="0"/>
                <a:ea typeface="Calibri" pitchFamily="34" charset="-122"/>
                <a:cs typeface="Calibri" pitchFamily="34" charset="-120"/>
              </a:rPr>
              <a:t>▸  Dropout regularization</a:t>
            </a:r>
            <a:endParaRPr lang="en-US" sz="1150" dirty="0"/>
          </a:p>
        </p:txBody>
      </p:sp>
      <p:sp>
        <p:nvSpPr>
          <p:cNvPr id="10" name="Text 8"/>
          <p:cNvSpPr/>
          <p:nvPr/>
        </p:nvSpPr>
        <p:spPr>
          <a:xfrm>
            <a:off x="640080" y="3438144"/>
            <a:ext cx="2286000" cy="411480"/>
          </a:xfrm>
          <a:prstGeom prst="rect">
            <a:avLst/>
          </a:prstGeom>
          <a:noFill/>
          <a:ln/>
        </p:spPr>
        <p:txBody>
          <a:bodyPr wrap="square" lIns="0" tIns="0" rIns="0" bIns="0" rtlCol="0" anchor="ctr"/>
          <a:lstStyle/>
          <a:p>
            <a:pPr indent="0" marL="0">
              <a:buNone/>
            </a:pPr>
            <a:r>
              <a:rPr lang="en-US" sz="1150" dirty="0">
                <a:solidFill>
                  <a:srgbClr val="C8D8E4"/>
                </a:solidFill>
                <a:latin typeface="Calibri" pitchFamily="34" charset="0"/>
                <a:ea typeface="Calibri" pitchFamily="34" charset="-122"/>
                <a:cs typeface="Calibri" pitchFamily="34" charset="-120"/>
              </a:rPr>
              <a:t>▸  Binary cross-entropy loss</a:t>
            </a:r>
            <a:endParaRPr lang="en-US" sz="1150" dirty="0"/>
          </a:p>
        </p:txBody>
      </p:sp>
      <p:sp>
        <p:nvSpPr>
          <p:cNvPr id="11" name="Text 9"/>
          <p:cNvSpPr/>
          <p:nvPr/>
        </p:nvSpPr>
        <p:spPr>
          <a:xfrm>
            <a:off x="640080" y="3913632"/>
            <a:ext cx="2286000" cy="411480"/>
          </a:xfrm>
          <a:prstGeom prst="rect">
            <a:avLst/>
          </a:prstGeom>
          <a:noFill/>
          <a:ln/>
        </p:spPr>
        <p:txBody>
          <a:bodyPr wrap="square" lIns="0" tIns="0" rIns="0" bIns="0" rtlCol="0" anchor="ctr"/>
          <a:lstStyle/>
          <a:p>
            <a:pPr indent="0" marL="0">
              <a:buNone/>
            </a:pPr>
            <a:r>
              <a:rPr lang="en-US" sz="1150" dirty="0">
                <a:solidFill>
                  <a:srgbClr val="C8D8E4"/>
                </a:solidFill>
                <a:latin typeface="Calibri" pitchFamily="34" charset="0"/>
                <a:ea typeface="Calibri" pitchFamily="34" charset="-122"/>
                <a:cs typeface="Calibri" pitchFamily="34" charset="-120"/>
              </a:rPr>
              <a:t>▸  ~20 epochs</a:t>
            </a:r>
            <a:endParaRPr lang="en-US" sz="1150" dirty="0"/>
          </a:p>
        </p:txBody>
      </p:sp>
      <p:sp>
        <p:nvSpPr>
          <p:cNvPr id="12" name="Shape 10"/>
          <p:cNvSpPr/>
          <p:nvPr/>
        </p:nvSpPr>
        <p:spPr>
          <a:xfrm>
            <a:off x="3291840" y="1417320"/>
            <a:ext cx="2651760" cy="3383280"/>
          </a:xfrm>
          <a:prstGeom prst="roundRect">
            <a:avLst>
              <a:gd name="adj" fmla="val 3448"/>
            </a:avLst>
          </a:prstGeom>
          <a:solidFill>
            <a:srgbClr val="1A2B3C"/>
          </a:solidFill>
          <a:ln/>
          <a:effectLst>
            <a:outerShdw sx="100000" sy="100000" kx="0" ky="0" algn="bl" rotWithShape="0" blurRad="101600" dist="25400" dir="2700000">
              <a:srgbClr val="000000">
                <a:alpha val="12000"/>
              </a:srgbClr>
            </a:outerShdw>
          </a:effectLst>
        </p:spPr>
      </p:sp>
      <p:sp>
        <p:nvSpPr>
          <p:cNvPr id="13" name="Shape 11"/>
          <p:cNvSpPr/>
          <p:nvPr/>
        </p:nvSpPr>
        <p:spPr>
          <a:xfrm>
            <a:off x="3291840" y="1417320"/>
            <a:ext cx="2651760" cy="457200"/>
          </a:xfrm>
          <a:prstGeom prst="roundRect">
            <a:avLst>
              <a:gd name="adj" fmla="val 20000"/>
            </a:avLst>
          </a:prstGeom>
          <a:solidFill>
            <a:srgbClr val="F0A500"/>
          </a:solidFill>
          <a:ln/>
        </p:spPr>
      </p:sp>
      <p:sp>
        <p:nvSpPr>
          <p:cNvPr id="14" name="Text 12"/>
          <p:cNvSpPr/>
          <p:nvPr/>
        </p:nvSpPr>
        <p:spPr>
          <a:xfrm>
            <a:off x="3383280" y="1463040"/>
            <a:ext cx="24688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EfficientNetB0</a:t>
            </a:r>
            <a:endParaRPr lang="en-US" sz="1400" dirty="0"/>
          </a:p>
        </p:txBody>
      </p:sp>
      <p:sp>
        <p:nvSpPr>
          <p:cNvPr id="15" name="Text 13"/>
          <p:cNvSpPr/>
          <p:nvPr/>
        </p:nvSpPr>
        <p:spPr>
          <a:xfrm>
            <a:off x="3474720" y="2011680"/>
            <a:ext cx="2286000" cy="411480"/>
          </a:xfrm>
          <a:prstGeom prst="rect">
            <a:avLst/>
          </a:prstGeom>
          <a:noFill/>
          <a:ln/>
        </p:spPr>
        <p:txBody>
          <a:bodyPr wrap="square" lIns="0" tIns="0" rIns="0" bIns="0" rtlCol="0" anchor="ctr"/>
          <a:lstStyle/>
          <a:p>
            <a:pPr indent="0" marL="0">
              <a:buNone/>
            </a:pPr>
            <a:r>
              <a:rPr lang="en-US" sz="1150" dirty="0">
                <a:solidFill>
                  <a:srgbClr val="C8D8E4"/>
                </a:solidFill>
                <a:latin typeface="Calibri" pitchFamily="34" charset="0"/>
                <a:ea typeface="Calibri" pitchFamily="34" charset="-122"/>
                <a:cs typeface="Calibri" pitchFamily="34" charset="-120"/>
              </a:rPr>
              <a:t>▸  Transfer learning (ImageNet)</a:t>
            </a:r>
            <a:endParaRPr lang="en-US" sz="1150" dirty="0"/>
          </a:p>
        </p:txBody>
      </p:sp>
      <p:sp>
        <p:nvSpPr>
          <p:cNvPr id="16" name="Text 14"/>
          <p:cNvSpPr/>
          <p:nvPr/>
        </p:nvSpPr>
        <p:spPr>
          <a:xfrm>
            <a:off x="3474720" y="2487168"/>
            <a:ext cx="2286000" cy="411480"/>
          </a:xfrm>
          <a:prstGeom prst="rect">
            <a:avLst/>
          </a:prstGeom>
          <a:noFill/>
          <a:ln/>
        </p:spPr>
        <p:txBody>
          <a:bodyPr wrap="square" lIns="0" tIns="0" rIns="0" bIns="0" rtlCol="0" anchor="ctr"/>
          <a:lstStyle/>
          <a:p>
            <a:pPr indent="0" marL="0">
              <a:buNone/>
            </a:pPr>
            <a:r>
              <a:rPr lang="en-US" sz="1150" dirty="0">
                <a:solidFill>
                  <a:srgbClr val="C8D8E4"/>
                </a:solidFill>
                <a:latin typeface="Calibri" pitchFamily="34" charset="0"/>
                <a:ea typeface="Calibri" pitchFamily="34" charset="-122"/>
                <a:cs typeface="Calibri" pitchFamily="34" charset="-120"/>
              </a:rPr>
              <a:t>▸  Feature extraction frozen</a:t>
            </a:r>
            <a:endParaRPr lang="en-US" sz="1150" dirty="0"/>
          </a:p>
        </p:txBody>
      </p:sp>
      <p:sp>
        <p:nvSpPr>
          <p:cNvPr id="17" name="Text 15"/>
          <p:cNvSpPr/>
          <p:nvPr/>
        </p:nvSpPr>
        <p:spPr>
          <a:xfrm>
            <a:off x="3474720" y="2962656"/>
            <a:ext cx="2286000" cy="411480"/>
          </a:xfrm>
          <a:prstGeom prst="rect">
            <a:avLst/>
          </a:prstGeom>
          <a:noFill/>
          <a:ln/>
        </p:spPr>
        <p:txBody>
          <a:bodyPr wrap="square" lIns="0" tIns="0" rIns="0" bIns="0" rtlCol="0" anchor="ctr"/>
          <a:lstStyle/>
          <a:p>
            <a:pPr indent="0" marL="0">
              <a:buNone/>
            </a:pPr>
            <a:r>
              <a:rPr lang="en-US" sz="1150" dirty="0">
                <a:solidFill>
                  <a:srgbClr val="C8D8E4"/>
                </a:solidFill>
                <a:latin typeface="Calibri" pitchFamily="34" charset="0"/>
                <a:ea typeface="Calibri" pitchFamily="34" charset="-122"/>
                <a:cs typeface="Calibri" pitchFamily="34" charset="-120"/>
              </a:rPr>
              <a:t>▸  Custom classification head</a:t>
            </a:r>
            <a:endParaRPr lang="en-US" sz="1150" dirty="0"/>
          </a:p>
        </p:txBody>
      </p:sp>
      <p:sp>
        <p:nvSpPr>
          <p:cNvPr id="18" name="Text 16"/>
          <p:cNvSpPr/>
          <p:nvPr/>
        </p:nvSpPr>
        <p:spPr>
          <a:xfrm>
            <a:off x="3474720" y="3438144"/>
            <a:ext cx="2286000" cy="411480"/>
          </a:xfrm>
          <a:prstGeom prst="rect">
            <a:avLst/>
          </a:prstGeom>
          <a:noFill/>
          <a:ln/>
        </p:spPr>
        <p:txBody>
          <a:bodyPr wrap="square" lIns="0" tIns="0" rIns="0" bIns="0" rtlCol="0" anchor="ctr"/>
          <a:lstStyle/>
          <a:p>
            <a:pPr indent="0" marL="0">
              <a:buNone/>
            </a:pPr>
            <a:r>
              <a:rPr lang="en-US" sz="1150" dirty="0">
                <a:solidFill>
                  <a:srgbClr val="C8D8E4"/>
                </a:solidFill>
                <a:latin typeface="Calibri" pitchFamily="34" charset="0"/>
                <a:ea typeface="Calibri" pitchFamily="34" charset="-122"/>
                <a:cs typeface="Calibri" pitchFamily="34" charset="-120"/>
              </a:rPr>
              <a:t>▸  Fine-tuned last layers</a:t>
            </a:r>
            <a:endParaRPr lang="en-US" sz="1150" dirty="0"/>
          </a:p>
        </p:txBody>
      </p:sp>
      <p:sp>
        <p:nvSpPr>
          <p:cNvPr id="19" name="Text 17"/>
          <p:cNvSpPr/>
          <p:nvPr/>
        </p:nvSpPr>
        <p:spPr>
          <a:xfrm>
            <a:off x="3474720" y="3913632"/>
            <a:ext cx="2286000" cy="411480"/>
          </a:xfrm>
          <a:prstGeom prst="rect">
            <a:avLst/>
          </a:prstGeom>
          <a:noFill/>
          <a:ln/>
        </p:spPr>
        <p:txBody>
          <a:bodyPr wrap="square" lIns="0" tIns="0" rIns="0" bIns="0" rtlCol="0" anchor="ctr"/>
          <a:lstStyle/>
          <a:p>
            <a:pPr indent="0" marL="0">
              <a:buNone/>
            </a:pPr>
            <a:r>
              <a:rPr lang="en-US" sz="1150" dirty="0">
                <a:solidFill>
                  <a:srgbClr val="C8D8E4"/>
                </a:solidFill>
                <a:latin typeface="Calibri" pitchFamily="34" charset="0"/>
                <a:ea typeface="Calibri" pitchFamily="34" charset="-122"/>
                <a:cs typeface="Calibri" pitchFamily="34" charset="-120"/>
              </a:rPr>
              <a:t>▸  ~11 epochs</a:t>
            </a:r>
            <a:endParaRPr lang="en-US" sz="1150" dirty="0"/>
          </a:p>
        </p:txBody>
      </p:sp>
      <p:sp>
        <p:nvSpPr>
          <p:cNvPr id="20" name="Shape 18"/>
          <p:cNvSpPr/>
          <p:nvPr/>
        </p:nvSpPr>
        <p:spPr>
          <a:xfrm>
            <a:off x="6126480" y="1417320"/>
            <a:ext cx="2651760" cy="3383280"/>
          </a:xfrm>
          <a:prstGeom prst="roundRect">
            <a:avLst>
              <a:gd name="adj" fmla="val 3448"/>
            </a:avLst>
          </a:prstGeom>
          <a:solidFill>
            <a:srgbClr val="1A2B3C"/>
          </a:solidFill>
          <a:ln/>
          <a:effectLst>
            <a:outerShdw sx="100000" sy="100000" kx="0" ky="0" algn="bl" rotWithShape="0" blurRad="101600" dist="25400" dir="2700000">
              <a:srgbClr val="000000">
                <a:alpha val="12000"/>
              </a:srgbClr>
            </a:outerShdw>
          </a:effectLst>
        </p:spPr>
      </p:sp>
      <p:sp>
        <p:nvSpPr>
          <p:cNvPr id="21" name="Shape 19"/>
          <p:cNvSpPr/>
          <p:nvPr/>
        </p:nvSpPr>
        <p:spPr>
          <a:xfrm>
            <a:off x="6126480" y="1417320"/>
            <a:ext cx="2651760" cy="457200"/>
          </a:xfrm>
          <a:prstGeom prst="roundRect">
            <a:avLst>
              <a:gd name="adj" fmla="val 20000"/>
            </a:avLst>
          </a:prstGeom>
          <a:solidFill>
            <a:srgbClr val="0A8754"/>
          </a:solidFill>
          <a:ln/>
        </p:spPr>
      </p:sp>
      <p:sp>
        <p:nvSpPr>
          <p:cNvPr id="22" name="Text 20"/>
          <p:cNvSpPr/>
          <p:nvPr/>
        </p:nvSpPr>
        <p:spPr>
          <a:xfrm>
            <a:off x="6217920" y="1463040"/>
            <a:ext cx="24688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MobileNetV2</a:t>
            </a:r>
            <a:endParaRPr lang="en-US" sz="1400" dirty="0"/>
          </a:p>
        </p:txBody>
      </p:sp>
      <p:sp>
        <p:nvSpPr>
          <p:cNvPr id="23" name="Text 21"/>
          <p:cNvSpPr/>
          <p:nvPr/>
        </p:nvSpPr>
        <p:spPr>
          <a:xfrm>
            <a:off x="6309360" y="2011680"/>
            <a:ext cx="2286000" cy="411480"/>
          </a:xfrm>
          <a:prstGeom prst="rect">
            <a:avLst/>
          </a:prstGeom>
          <a:noFill/>
          <a:ln/>
        </p:spPr>
        <p:txBody>
          <a:bodyPr wrap="square" lIns="0" tIns="0" rIns="0" bIns="0" rtlCol="0" anchor="ctr"/>
          <a:lstStyle/>
          <a:p>
            <a:pPr indent="0" marL="0">
              <a:buNone/>
            </a:pPr>
            <a:r>
              <a:rPr lang="en-US" sz="1150" dirty="0">
                <a:solidFill>
                  <a:srgbClr val="C8D8E4"/>
                </a:solidFill>
                <a:latin typeface="Calibri" pitchFamily="34" charset="0"/>
                <a:ea typeface="Calibri" pitchFamily="34" charset="-122"/>
                <a:cs typeface="Calibri" pitchFamily="34" charset="-120"/>
              </a:rPr>
              <a:t>▸  Transfer learning (ImageNet)</a:t>
            </a:r>
            <a:endParaRPr lang="en-US" sz="1150" dirty="0"/>
          </a:p>
        </p:txBody>
      </p:sp>
      <p:sp>
        <p:nvSpPr>
          <p:cNvPr id="24" name="Text 22"/>
          <p:cNvSpPr/>
          <p:nvPr/>
        </p:nvSpPr>
        <p:spPr>
          <a:xfrm>
            <a:off x="6309360" y="2487168"/>
            <a:ext cx="2286000" cy="411480"/>
          </a:xfrm>
          <a:prstGeom prst="rect">
            <a:avLst/>
          </a:prstGeom>
          <a:noFill/>
          <a:ln/>
        </p:spPr>
        <p:txBody>
          <a:bodyPr wrap="square" lIns="0" tIns="0" rIns="0" bIns="0" rtlCol="0" anchor="ctr"/>
          <a:lstStyle/>
          <a:p>
            <a:pPr indent="0" marL="0">
              <a:buNone/>
            </a:pPr>
            <a:r>
              <a:rPr lang="en-US" sz="1150" dirty="0">
                <a:solidFill>
                  <a:srgbClr val="C8D8E4"/>
                </a:solidFill>
                <a:latin typeface="Calibri" pitchFamily="34" charset="0"/>
                <a:ea typeface="Calibri" pitchFamily="34" charset="-122"/>
                <a:cs typeface="Calibri" pitchFamily="34" charset="-120"/>
              </a:rPr>
              <a:t>▸  Depthwise separable convs</a:t>
            </a:r>
            <a:endParaRPr lang="en-US" sz="1150" dirty="0"/>
          </a:p>
        </p:txBody>
      </p:sp>
      <p:sp>
        <p:nvSpPr>
          <p:cNvPr id="25" name="Text 23"/>
          <p:cNvSpPr/>
          <p:nvPr/>
        </p:nvSpPr>
        <p:spPr>
          <a:xfrm>
            <a:off x="6309360" y="2962656"/>
            <a:ext cx="2286000" cy="411480"/>
          </a:xfrm>
          <a:prstGeom prst="rect">
            <a:avLst/>
          </a:prstGeom>
          <a:noFill/>
          <a:ln/>
        </p:spPr>
        <p:txBody>
          <a:bodyPr wrap="square" lIns="0" tIns="0" rIns="0" bIns="0" rtlCol="0" anchor="ctr"/>
          <a:lstStyle/>
          <a:p>
            <a:pPr indent="0" marL="0">
              <a:buNone/>
            </a:pPr>
            <a:r>
              <a:rPr lang="en-US" sz="1150" dirty="0">
                <a:solidFill>
                  <a:srgbClr val="C8D8E4"/>
                </a:solidFill>
                <a:latin typeface="Calibri" pitchFamily="34" charset="0"/>
                <a:ea typeface="Calibri" pitchFamily="34" charset="-122"/>
                <a:cs typeface="Calibri" pitchFamily="34" charset="-120"/>
              </a:rPr>
              <a:t>▸  Global avg pooling</a:t>
            </a:r>
            <a:endParaRPr lang="en-US" sz="1150" dirty="0"/>
          </a:p>
        </p:txBody>
      </p:sp>
      <p:sp>
        <p:nvSpPr>
          <p:cNvPr id="26" name="Text 24"/>
          <p:cNvSpPr/>
          <p:nvPr/>
        </p:nvSpPr>
        <p:spPr>
          <a:xfrm>
            <a:off x="6309360" y="3438144"/>
            <a:ext cx="2286000" cy="411480"/>
          </a:xfrm>
          <a:prstGeom prst="rect">
            <a:avLst/>
          </a:prstGeom>
          <a:noFill/>
          <a:ln/>
        </p:spPr>
        <p:txBody>
          <a:bodyPr wrap="square" lIns="0" tIns="0" rIns="0" bIns="0" rtlCol="0" anchor="ctr"/>
          <a:lstStyle/>
          <a:p>
            <a:pPr indent="0" marL="0">
              <a:buNone/>
            </a:pPr>
            <a:r>
              <a:rPr lang="en-US" sz="1150" dirty="0">
                <a:solidFill>
                  <a:srgbClr val="C8D8E4"/>
                </a:solidFill>
                <a:latin typeface="Calibri" pitchFamily="34" charset="0"/>
                <a:ea typeface="Calibri" pitchFamily="34" charset="-122"/>
                <a:cs typeface="Calibri" pitchFamily="34" charset="-120"/>
              </a:rPr>
              <a:t>▸  Progressive unfreezing</a:t>
            </a:r>
            <a:endParaRPr lang="en-US" sz="1150" dirty="0"/>
          </a:p>
        </p:txBody>
      </p:sp>
      <p:sp>
        <p:nvSpPr>
          <p:cNvPr id="27" name="Text 25"/>
          <p:cNvSpPr/>
          <p:nvPr/>
        </p:nvSpPr>
        <p:spPr>
          <a:xfrm>
            <a:off x="6309360" y="3913632"/>
            <a:ext cx="2286000" cy="411480"/>
          </a:xfrm>
          <a:prstGeom prst="rect">
            <a:avLst/>
          </a:prstGeom>
          <a:noFill/>
          <a:ln/>
        </p:spPr>
        <p:txBody>
          <a:bodyPr wrap="square" lIns="0" tIns="0" rIns="0" bIns="0" rtlCol="0" anchor="ctr"/>
          <a:lstStyle/>
          <a:p>
            <a:pPr indent="0" marL="0">
              <a:buNone/>
            </a:pPr>
            <a:r>
              <a:rPr lang="en-US" sz="1150" dirty="0">
                <a:solidFill>
                  <a:srgbClr val="C8D8E4"/>
                </a:solidFill>
                <a:latin typeface="Calibri" pitchFamily="34" charset="0"/>
                <a:ea typeface="Calibri" pitchFamily="34" charset="-122"/>
                <a:cs typeface="Calibri" pitchFamily="34" charset="-120"/>
              </a:rPr>
              <a:t>▸  ~22 epochs</a:t>
            </a:r>
            <a:endParaRPr lang="en-US" sz="1150" dirty="0"/>
          </a:p>
        </p:txBody>
      </p:sp>
      <p:sp>
        <p:nvSpPr>
          <p:cNvPr id="28" name="Text 26"/>
          <p:cNvSpPr/>
          <p:nvPr/>
        </p:nvSpPr>
        <p:spPr>
          <a:xfrm>
            <a:off x="457200" y="4800600"/>
            <a:ext cx="8229600" cy="27432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All models: 80/20 train-test split · Data augmentation (flip, rotation, zoom) · Adam optimizer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indent="0" marL="0">
              <a:buNone/>
            </a:pPr>
            <a:r>
              <a:rPr lang="en-US" sz="3400" b="1" dirty="0">
                <a:solidFill>
                  <a:srgbClr val="0D1B2A"/>
                </a:solidFill>
                <a:latin typeface="Calibri" pitchFamily="34" charset="0"/>
                <a:ea typeface="Calibri" pitchFamily="34" charset="-122"/>
                <a:cs typeface="Calibri" pitchFamily="34" charset="-120"/>
              </a:rPr>
              <a:t>Training Dynamics</a:t>
            </a:r>
            <a:endParaRPr lang="en-US" sz="3400" dirty="0"/>
          </a:p>
        </p:txBody>
      </p:sp>
      <p:sp>
        <p:nvSpPr>
          <p:cNvPr id="3" name="Shape 1"/>
          <p:cNvSpPr/>
          <p:nvPr/>
        </p:nvSpPr>
        <p:spPr>
          <a:xfrm>
            <a:off x="457200" y="868680"/>
            <a:ext cx="2651760" cy="3931920"/>
          </a:xfrm>
          <a:prstGeom prst="roundRect">
            <a:avLst>
              <a:gd name="adj" fmla="val 3448"/>
            </a:avLst>
          </a:prstGeom>
          <a:solidFill>
            <a:srgbClr val="FFFFFF"/>
          </a:solidFill>
          <a:ln/>
          <a:effectLst>
            <a:outerShdw sx="100000" sy="100000" kx="0" ky="0" algn="bl" rotWithShape="0" blurRad="101600" dist="25400" dir="2700000">
              <a:srgbClr val="000000">
                <a:alpha val="12000"/>
              </a:srgbClr>
            </a:outerShdw>
          </a:effectLst>
        </p:spPr>
      </p:sp>
      <p:sp>
        <p:nvSpPr>
          <p:cNvPr id="4" name="Shape 2"/>
          <p:cNvSpPr/>
          <p:nvPr/>
        </p:nvSpPr>
        <p:spPr>
          <a:xfrm>
            <a:off x="457200" y="868680"/>
            <a:ext cx="2651760" cy="365760"/>
          </a:xfrm>
          <a:prstGeom prst="roundRect">
            <a:avLst>
              <a:gd name="adj" fmla="val 20000"/>
            </a:avLst>
          </a:prstGeom>
          <a:solidFill>
            <a:srgbClr val="0E9AA7"/>
          </a:solidFill>
          <a:ln/>
        </p:spPr>
      </p:sp>
      <p:sp>
        <p:nvSpPr>
          <p:cNvPr id="5" name="Text 3"/>
          <p:cNvSpPr/>
          <p:nvPr/>
        </p:nvSpPr>
        <p:spPr>
          <a:xfrm>
            <a:off x="548640" y="896112"/>
            <a:ext cx="246888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Custom CNN</a:t>
            </a:r>
            <a:endParaRPr lang="en-US" sz="1300" dirty="0"/>
          </a:p>
        </p:txBody>
      </p:sp>
      <p:sp>
        <p:nvSpPr>
          <p:cNvPr id="6" name="Text 4"/>
          <p:cNvSpPr/>
          <p:nvPr/>
        </p:nvSpPr>
        <p:spPr>
          <a:xfrm>
            <a:off x="594360" y="1371600"/>
            <a:ext cx="2377440" cy="3200400"/>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Validation loss very volatile — spikes to 1.75 at epoch 16. Train/val accuracy gap suggests mild overfitting. Best val ~86%.</a:t>
            </a:r>
            <a:endParaRPr lang="en-US" sz="1200" dirty="0"/>
          </a:p>
        </p:txBody>
      </p:sp>
      <p:sp>
        <p:nvSpPr>
          <p:cNvPr id="7" name="Shape 5"/>
          <p:cNvSpPr/>
          <p:nvPr/>
        </p:nvSpPr>
        <p:spPr>
          <a:xfrm>
            <a:off x="3291840" y="868680"/>
            <a:ext cx="2651760" cy="3931920"/>
          </a:xfrm>
          <a:prstGeom prst="roundRect">
            <a:avLst>
              <a:gd name="adj" fmla="val 3448"/>
            </a:avLst>
          </a:prstGeom>
          <a:solidFill>
            <a:srgbClr val="FFFFFF"/>
          </a:solidFill>
          <a:ln/>
          <a:effectLst>
            <a:outerShdw sx="100000" sy="100000" kx="0" ky="0" algn="bl" rotWithShape="0" blurRad="101600" dist="25400" dir="2700000">
              <a:srgbClr val="000000">
                <a:alpha val="12000"/>
              </a:srgbClr>
            </a:outerShdw>
          </a:effectLst>
        </p:spPr>
      </p:sp>
      <p:sp>
        <p:nvSpPr>
          <p:cNvPr id="8" name="Shape 6"/>
          <p:cNvSpPr/>
          <p:nvPr/>
        </p:nvSpPr>
        <p:spPr>
          <a:xfrm>
            <a:off x="3291840" y="868680"/>
            <a:ext cx="2651760" cy="365760"/>
          </a:xfrm>
          <a:prstGeom prst="roundRect">
            <a:avLst>
              <a:gd name="adj" fmla="val 20000"/>
            </a:avLst>
          </a:prstGeom>
          <a:solidFill>
            <a:srgbClr val="F0A500"/>
          </a:solidFill>
          <a:ln/>
        </p:spPr>
      </p:sp>
      <p:sp>
        <p:nvSpPr>
          <p:cNvPr id="9" name="Text 7"/>
          <p:cNvSpPr/>
          <p:nvPr/>
        </p:nvSpPr>
        <p:spPr>
          <a:xfrm>
            <a:off x="3383280" y="896112"/>
            <a:ext cx="246888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EfficientNetB0</a:t>
            </a:r>
            <a:endParaRPr lang="en-US" sz="1300" dirty="0"/>
          </a:p>
        </p:txBody>
      </p:sp>
      <p:sp>
        <p:nvSpPr>
          <p:cNvPr id="10" name="Text 8"/>
          <p:cNvSpPr/>
          <p:nvPr/>
        </p:nvSpPr>
        <p:spPr>
          <a:xfrm>
            <a:off x="3429000" y="1371600"/>
            <a:ext cx="2377440" cy="3200400"/>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Both accuracy curves plateau ~80% immediately. Loss is unstable. Model never learned to distinguish plastic from non-plastic meaningfully.</a:t>
            </a:r>
            <a:endParaRPr lang="en-US" sz="1200" dirty="0"/>
          </a:p>
        </p:txBody>
      </p:sp>
      <p:sp>
        <p:nvSpPr>
          <p:cNvPr id="11" name="Shape 9"/>
          <p:cNvSpPr/>
          <p:nvPr/>
        </p:nvSpPr>
        <p:spPr>
          <a:xfrm>
            <a:off x="6126480" y="868680"/>
            <a:ext cx="2651760" cy="3931920"/>
          </a:xfrm>
          <a:prstGeom prst="roundRect">
            <a:avLst>
              <a:gd name="adj" fmla="val 3448"/>
            </a:avLst>
          </a:prstGeom>
          <a:solidFill>
            <a:srgbClr val="FFFFFF"/>
          </a:solidFill>
          <a:ln/>
          <a:effectLst>
            <a:outerShdw sx="100000" sy="100000" kx="0" ky="0" algn="bl" rotWithShape="0" blurRad="101600" dist="25400" dir="2700000">
              <a:srgbClr val="000000">
                <a:alpha val="12000"/>
              </a:srgbClr>
            </a:outerShdw>
          </a:effectLst>
        </p:spPr>
      </p:sp>
      <p:sp>
        <p:nvSpPr>
          <p:cNvPr id="12" name="Shape 10"/>
          <p:cNvSpPr/>
          <p:nvPr/>
        </p:nvSpPr>
        <p:spPr>
          <a:xfrm>
            <a:off x="6126480" y="868680"/>
            <a:ext cx="2651760" cy="365760"/>
          </a:xfrm>
          <a:prstGeom prst="roundRect">
            <a:avLst>
              <a:gd name="adj" fmla="val 20000"/>
            </a:avLst>
          </a:prstGeom>
          <a:solidFill>
            <a:srgbClr val="0A8754"/>
          </a:solidFill>
          <a:ln/>
        </p:spPr>
      </p:sp>
      <p:sp>
        <p:nvSpPr>
          <p:cNvPr id="13" name="Text 11"/>
          <p:cNvSpPr/>
          <p:nvPr/>
        </p:nvSpPr>
        <p:spPr>
          <a:xfrm>
            <a:off x="6217920" y="896112"/>
            <a:ext cx="246888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MobileNetV2</a:t>
            </a:r>
            <a:endParaRPr lang="en-US" sz="1300" dirty="0"/>
          </a:p>
        </p:txBody>
      </p:sp>
      <p:sp>
        <p:nvSpPr>
          <p:cNvPr id="14" name="Text 12"/>
          <p:cNvSpPr/>
          <p:nvPr/>
        </p:nvSpPr>
        <p:spPr>
          <a:xfrm>
            <a:off x="6263640" y="1371600"/>
            <a:ext cx="2377440" cy="3200400"/>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Cleanest curves. Train acc → 99%, val acc → 96%. Loss converges steadily after epoch 10. Clear winner on training stability.</a:t>
            </a:r>
            <a:endParaRPr lang="en-US" sz="1200" dirty="0"/>
          </a:p>
        </p:txBody>
      </p:sp>
      <p:sp>
        <p:nvSpPr>
          <p:cNvPr id="15" name="Text 13"/>
          <p:cNvSpPr/>
          <p:nvPr/>
        </p:nvSpPr>
        <p:spPr>
          <a:xfrm>
            <a:off x="457200" y="4828032"/>
            <a:ext cx="8229600" cy="256032"/>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Key takeaway: MobileNetV2 showed dramatically more stable convergence than the other two models.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indent="0" marL="0">
              <a:buNone/>
            </a:pPr>
            <a:r>
              <a:rPr lang="en-US" sz="3400" b="1" dirty="0">
                <a:solidFill>
                  <a:srgbClr val="0D1B2A"/>
                </a:solidFill>
                <a:latin typeface="Calibri" pitchFamily="34" charset="0"/>
                <a:ea typeface="Calibri" pitchFamily="34" charset="-122"/>
                <a:cs typeface="Calibri" pitchFamily="34" charset="-120"/>
              </a:rPr>
              <a:t>Model Performance Results</a:t>
            </a:r>
            <a:endParaRPr lang="en-US" sz="3400" dirty="0"/>
          </a:p>
        </p:txBody>
      </p:sp>
      <p:sp>
        <p:nvSpPr>
          <p:cNvPr id="3" name="Shape 1"/>
          <p:cNvSpPr/>
          <p:nvPr/>
        </p:nvSpPr>
        <p:spPr>
          <a:xfrm>
            <a:off x="365760" y="822960"/>
            <a:ext cx="2743200" cy="4023360"/>
          </a:xfrm>
          <a:prstGeom prst="roundRect">
            <a:avLst>
              <a:gd name="adj" fmla="val 3333"/>
            </a:avLst>
          </a:prstGeom>
          <a:solidFill>
            <a:srgbClr val="FFFFFF"/>
          </a:solidFill>
          <a:ln/>
          <a:effectLst>
            <a:outerShdw sx="100000" sy="100000" kx="0" ky="0" algn="bl" rotWithShape="0" blurRad="101600" dist="25400" dir="2700000">
              <a:srgbClr val="000000">
                <a:alpha val="12000"/>
              </a:srgbClr>
            </a:outerShdw>
          </a:effectLst>
        </p:spPr>
      </p:sp>
      <p:sp>
        <p:nvSpPr>
          <p:cNvPr id="4" name="Shape 2"/>
          <p:cNvSpPr/>
          <p:nvPr/>
        </p:nvSpPr>
        <p:spPr>
          <a:xfrm>
            <a:off x="365760" y="822960"/>
            <a:ext cx="2743200" cy="411480"/>
          </a:xfrm>
          <a:prstGeom prst="roundRect">
            <a:avLst>
              <a:gd name="adj" fmla="val 17778"/>
            </a:avLst>
          </a:prstGeom>
          <a:solidFill>
            <a:srgbClr val="0E9AA7"/>
          </a:solidFill>
          <a:ln/>
        </p:spPr>
      </p:sp>
      <p:sp>
        <p:nvSpPr>
          <p:cNvPr id="5" name="Text 3"/>
          <p:cNvSpPr/>
          <p:nvPr/>
        </p:nvSpPr>
        <p:spPr>
          <a:xfrm>
            <a:off x="457200" y="850392"/>
            <a:ext cx="2560320" cy="35661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Custom CNN</a:t>
            </a:r>
            <a:endParaRPr lang="en-US" sz="1300" dirty="0"/>
          </a:p>
        </p:txBody>
      </p:sp>
      <p:sp>
        <p:nvSpPr>
          <p:cNvPr id="6" name="Text 4"/>
          <p:cNvSpPr/>
          <p:nvPr/>
        </p:nvSpPr>
        <p:spPr>
          <a:xfrm>
            <a:off x="548640" y="1371600"/>
            <a:ext cx="128016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Accuracy</a:t>
            </a:r>
            <a:endParaRPr lang="en-US" sz="1200" dirty="0"/>
          </a:p>
        </p:txBody>
      </p:sp>
      <p:sp>
        <p:nvSpPr>
          <p:cNvPr id="7" name="Text 5"/>
          <p:cNvSpPr/>
          <p:nvPr/>
        </p:nvSpPr>
        <p:spPr>
          <a:xfrm>
            <a:off x="1828800" y="1371600"/>
            <a:ext cx="1097280" cy="457200"/>
          </a:xfrm>
          <a:prstGeom prst="rect">
            <a:avLst/>
          </a:prstGeom>
          <a:noFill/>
          <a:ln/>
        </p:spPr>
        <p:txBody>
          <a:bodyPr wrap="square" lIns="0" tIns="0" rIns="0" bIns="0" rtlCol="0" anchor="ctr"/>
          <a:lstStyle/>
          <a:p>
            <a:pPr algn="r" indent="0" marL="0">
              <a:buNone/>
            </a:pPr>
            <a:r>
              <a:rPr lang="en-US" sz="1400" b="1" dirty="0">
                <a:solidFill>
                  <a:srgbClr val="0E9AA7"/>
                </a:solidFill>
                <a:latin typeface="Calibri" pitchFamily="34" charset="0"/>
                <a:ea typeface="Calibri" pitchFamily="34" charset="-122"/>
                <a:cs typeface="Calibri" pitchFamily="34" charset="-120"/>
              </a:rPr>
              <a:t>84.2%</a:t>
            </a:r>
            <a:endParaRPr lang="en-US" sz="1400" dirty="0"/>
          </a:p>
        </p:txBody>
      </p:sp>
      <p:sp>
        <p:nvSpPr>
          <p:cNvPr id="8" name="Text 6"/>
          <p:cNvSpPr/>
          <p:nvPr/>
        </p:nvSpPr>
        <p:spPr>
          <a:xfrm>
            <a:off x="548640" y="1965960"/>
            <a:ext cx="128016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Precision</a:t>
            </a:r>
            <a:endParaRPr lang="en-US" sz="1200" dirty="0"/>
          </a:p>
        </p:txBody>
      </p:sp>
      <p:sp>
        <p:nvSpPr>
          <p:cNvPr id="9" name="Text 7"/>
          <p:cNvSpPr/>
          <p:nvPr/>
        </p:nvSpPr>
        <p:spPr>
          <a:xfrm>
            <a:off x="1828800" y="1965960"/>
            <a:ext cx="1097280" cy="457200"/>
          </a:xfrm>
          <a:prstGeom prst="rect">
            <a:avLst/>
          </a:prstGeom>
          <a:noFill/>
          <a:ln/>
        </p:spPr>
        <p:txBody>
          <a:bodyPr wrap="square" lIns="0" tIns="0" rIns="0" bIns="0" rtlCol="0" anchor="ctr"/>
          <a:lstStyle/>
          <a:p>
            <a:pPr algn="r" indent="0" marL="0">
              <a:buNone/>
            </a:pPr>
            <a:r>
              <a:rPr lang="en-US" sz="1400" b="1" dirty="0">
                <a:solidFill>
                  <a:srgbClr val="0E9AA7"/>
                </a:solidFill>
                <a:latin typeface="Calibri" pitchFamily="34" charset="0"/>
                <a:ea typeface="Calibri" pitchFamily="34" charset="-122"/>
                <a:cs typeface="Calibri" pitchFamily="34" charset="-120"/>
              </a:rPr>
              <a:t>69.7%</a:t>
            </a:r>
            <a:endParaRPr lang="en-US" sz="1400" dirty="0"/>
          </a:p>
        </p:txBody>
      </p:sp>
      <p:sp>
        <p:nvSpPr>
          <p:cNvPr id="10" name="Text 8"/>
          <p:cNvSpPr/>
          <p:nvPr/>
        </p:nvSpPr>
        <p:spPr>
          <a:xfrm>
            <a:off x="548640" y="2560320"/>
            <a:ext cx="128016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Recall</a:t>
            </a:r>
            <a:endParaRPr lang="en-US" sz="1200" dirty="0"/>
          </a:p>
        </p:txBody>
      </p:sp>
      <p:sp>
        <p:nvSpPr>
          <p:cNvPr id="11" name="Text 9"/>
          <p:cNvSpPr/>
          <p:nvPr/>
        </p:nvSpPr>
        <p:spPr>
          <a:xfrm>
            <a:off x="1828800" y="2560320"/>
            <a:ext cx="1097280" cy="457200"/>
          </a:xfrm>
          <a:prstGeom prst="rect">
            <a:avLst/>
          </a:prstGeom>
          <a:noFill/>
          <a:ln/>
        </p:spPr>
        <p:txBody>
          <a:bodyPr wrap="square" lIns="0" tIns="0" rIns="0" bIns="0" rtlCol="0" anchor="ctr"/>
          <a:lstStyle/>
          <a:p>
            <a:pPr algn="r" indent="0" marL="0">
              <a:buNone/>
            </a:pPr>
            <a:r>
              <a:rPr lang="en-US" sz="1400" b="1" dirty="0">
                <a:solidFill>
                  <a:srgbClr val="0E9AA7"/>
                </a:solidFill>
                <a:latin typeface="Calibri" pitchFamily="34" charset="0"/>
                <a:ea typeface="Calibri" pitchFamily="34" charset="-122"/>
                <a:cs typeface="Calibri" pitchFamily="34" charset="-120"/>
              </a:rPr>
              <a:t>31.5%</a:t>
            </a:r>
            <a:endParaRPr lang="en-US" sz="1400" dirty="0"/>
          </a:p>
        </p:txBody>
      </p:sp>
      <p:sp>
        <p:nvSpPr>
          <p:cNvPr id="12" name="Text 10"/>
          <p:cNvSpPr/>
          <p:nvPr/>
        </p:nvSpPr>
        <p:spPr>
          <a:xfrm>
            <a:off x="548640" y="3154680"/>
            <a:ext cx="128016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F1-Score</a:t>
            </a:r>
            <a:endParaRPr lang="en-US" sz="1200" dirty="0"/>
          </a:p>
        </p:txBody>
      </p:sp>
      <p:sp>
        <p:nvSpPr>
          <p:cNvPr id="13" name="Text 11"/>
          <p:cNvSpPr/>
          <p:nvPr/>
        </p:nvSpPr>
        <p:spPr>
          <a:xfrm>
            <a:off x="1828800" y="3154680"/>
            <a:ext cx="1097280" cy="457200"/>
          </a:xfrm>
          <a:prstGeom prst="rect">
            <a:avLst/>
          </a:prstGeom>
          <a:noFill/>
          <a:ln/>
        </p:spPr>
        <p:txBody>
          <a:bodyPr wrap="square" lIns="0" tIns="0" rIns="0" bIns="0" rtlCol="0" anchor="ctr"/>
          <a:lstStyle/>
          <a:p>
            <a:pPr algn="r" indent="0" marL="0">
              <a:buNone/>
            </a:pPr>
            <a:r>
              <a:rPr lang="en-US" sz="1400" b="1" dirty="0">
                <a:solidFill>
                  <a:srgbClr val="0E9AA7"/>
                </a:solidFill>
                <a:latin typeface="Calibri" pitchFamily="34" charset="0"/>
                <a:ea typeface="Calibri" pitchFamily="34" charset="-122"/>
                <a:cs typeface="Calibri" pitchFamily="34" charset="-120"/>
              </a:rPr>
              <a:t>43.4%</a:t>
            </a:r>
            <a:endParaRPr lang="en-US" sz="1400" dirty="0"/>
          </a:p>
        </p:txBody>
      </p:sp>
      <p:sp>
        <p:nvSpPr>
          <p:cNvPr id="14" name="Text 12"/>
          <p:cNvSpPr/>
          <p:nvPr/>
        </p:nvSpPr>
        <p:spPr>
          <a:xfrm>
            <a:off x="548640" y="3749040"/>
            <a:ext cx="128016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AUC-ROC</a:t>
            </a:r>
            <a:endParaRPr lang="en-US" sz="1200" dirty="0"/>
          </a:p>
        </p:txBody>
      </p:sp>
      <p:sp>
        <p:nvSpPr>
          <p:cNvPr id="15" name="Text 13"/>
          <p:cNvSpPr/>
          <p:nvPr/>
        </p:nvSpPr>
        <p:spPr>
          <a:xfrm>
            <a:off x="1828800" y="3749040"/>
            <a:ext cx="1097280" cy="457200"/>
          </a:xfrm>
          <a:prstGeom prst="rect">
            <a:avLst/>
          </a:prstGeom>
          <a:noFill/>
          <a:ln/>
        </p:spPr>
        <p:txBody>
          <a:bodyPr wrap="square" lIns="0" tIns="0" rIns="0" bIns="0" rtlCol="0" anchor="ctr"/>
          <a:lstStyle/>
          <a:p>
            <a:pPr algn="r" indent="0" marL="0">
              <a:buNone/>
            </a:pPr>
            <a:r>
              <a:rPr lang="en-US" sz="1400" b="1" dirty="0">
                <a:solidFill>
                  <a:srgbClr val="0E9AA7"/>
                </a:solidFill>
                <a:latin typeface="Calibri" pitchFamily="34" charset="0"/>
                <a:ea typeface="Calibri" pitchFamily="34" charset="-122"/>
                <a:cs typeface="Calibri" pitchFamily="34" charset="-120"/>
              </a:rPr>
              <a:t>0.8516</a:t>
            </a:r>
            <a:endParaRPr lang="en-US" sz="1400" dirty="0"/>
          </a:p>
        </p:txBody>
      </p:sp>
      <p:sp>
        <p:nvSpPr>
          <p:cNvPr id="16" name="Shape 14"/>
          <p:cNvSpPr/>
          <p:nvPr/>
        </p:nvSpPr>
        <p:spPr>
          <a:xfrm>
            <a:off x="3246120" y="822960"/>
            <a:ext cx="2743200" cy="4023360"/>
          </a:xfrm>
          <a:prstGeom prst="roundRect">
            <a:avLst>
              <a:gd name="adj" fmla="val 3333"/>
            </a:avLst>
          </a:prstGeom>
          <a:solidFill>
            <a:srgbClr val="FFFFFF"/>
          </a:solidFill>
          <a:ln/>
          <a:effectLst>
            <a:outerShdw sx="100000" sy="100000" kx="0" ky="0" algn="bl" rotWithShape="0" blurRad="101600" dist="25400" dir="2700000">
              <a:srgbClr val="000000">
                <a:alpha val="12000"/>
              </a:srgbClr>
            </a:outerShdw>
          </a:effectLst>
        </p:spPr>
      </p:sp>
      <p:sp>
        <p:nvSpPr>
          <p:cNvPr id="17" name="Shape 15"/>
          <p:cNvSpPr/>
          <p:nvPr/>
        </p:nvSpPr>
        <p:spPr>
          <a:xfrm>
            <a:off x="3246120" y="822960"/>
            <a:ext cx="2743200" cy="411480"/>
          </a:xfrm>
          <a:prstGeom prst="roundRect">
            <a:avLst>
              <a:gd name="adj" fmla="val 17778"/>
            </a:avLst>
          </a:prstGeom>
          <a:solidFill>
            <a:srgbClr val="F0A500"/>
          </a:solidFill>
          <a:ln/>
        </p:spPr>
      </p:sp>
      <p:sp>
        <p:nvSpPr>
          <p:cNvPr id="18" name="Text 16"/>
          <p:cNvSpPr/>
          <p:nvPr/>
        </p:nvSpPr>
        <p:spPr>
          <a:xfrm>
            <a:off x="3337560" y="850392"/>
            <a:ext cx="2560320" cy="35661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EfficientNetB0</a:t>
            </a:r>
            <a:endParaRPr lang="en-US" sz="1300" dirty="0"/>
          </a:p>
        </p:txBody>
      </p:sp>
      <p:sp>
        <p:nvSpPr>
          <p:cNvPr id="19" name="Text 17"/>
          <p:cNvSpPr/>
          <p:nvPr/>
        </p:nvSpPr>
        <p:spPr>
          <a:xfrm>
            <a:off x="3429000" y="1371600"/>
            <a:ext cx="128016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Accuracy</a:t>
            </a:r>
            <a:endParaRPr lang="en-US" sz="1200" dirty="0"/>
          </a:p>
        </p:txBody>
      </p:sp>
      <p:sp>
        <p:nvSpPr>
          <p:cNvPr id="20" name="Text 18"/>
          <p:cNvSpPr/>
          <p:nvPr/>
        </p:nvSpPr>
        <p:spPr>
          <a:xfrm>
            <a:off x="4709160" y="1371600"/>
            <a:ext cx="1097280" cy="457200"/>
          </a:xfrm>
          <a:prstGeom prst="rect">
            <a:avLst/>
          </a:prstGeom>
          <a:noFill/>
          <a:ln/>
        </p:spPr>
        <p:txBody>
          <a:bodyPr wrap="square" lIns="0" tIns="0" rIns="0" bIns="0" rtlCol="0" anchor="ctr"/>
          <a:lstStyle/>
          <a:p>
            <a:pPr algn="r" indent="0" marL="0">
              <a:buNone/>
            </a:pPr>
            <a:r>
              <a:rPr lang="en-US" sz="1400" b="1" dirty="0">
                <a:solidFill>
                  <a:srgbClr val="F0A500"/>
                </a:solidFill>
                <a:latin typeface="Calibri" pitchFamily="34" charset="0"/>
                <a:ea typeface="Calibri" pitchFamily="34" charset="-122"/>
                <a:cs typeface="Calibri" pitchFamily="34" charset="-120"/>
              </a:rPr>
              <a:t>80.8%</a:t>
            </a:r>
            <a:endParaRPr lang="en-US" sz="1400" dirty="0"/>
          </a:p>
        </p:txBody>
      </p:sp>
      <p:sp>
        <p:nvSpPr>
          <p:cNvPr id="21" name="Text 19"/>
          <p:cNvSpPr/>
          <p:nvPr/>
        </p:nvSpPr>
        <p:spPr>
          <a:xfrm>
            <a:off x="3429000" y="1965960"/>
            <a:ext cx="128016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Precision</a:t>
            </a:r>
            <a:endParaRPr lang="en-US" sz="1200" dirty="0"/>
          </a:p>
        </p:txBody>
      </p:sp>
      <p:sp>
        <p:nvSpPr>
          <p:cNvPr id="22" name="Text 20"/>
          <p:cNvSpPr/>
          <p:nvPr/>
        </p:nvSpPr>
        <p:spPr>
          <a:xfrm>
            <a:off x="4709160" y="1965960"/>
            <a:ext cx="1097280" cy="457200"/>
          </a:xfrm>
          <a:prstGeom prst="rect">
            <a:avLst/>
          </a:prstGeom>
          <a:noFill/>
          <a:ln/>
        </p:spPr>
        <p:txBody>
          <a:bodyPr wrap="square" lIns="0" tIns="0" rIns="0" bIns="0" rtlCol="0" anchor="ctr"/>
          <a:lstStyle/>
          <a:p>
            <a:pPr algn="r" indent="0" marL="0">
              <a:buNone/>
            </a:pPr>
            <a:r>
              <a:rPr lang="en-US" sz="1400" b="1" dirty="0">
                <a:solidFill>
                  <a:srgbClr val="F0A500"/>
                </a:solidFill>
                <a:latin typeface="Calibri" pitchFamily="34" charset="0"/>
                <a:ea typeface="Calibri" pitchFamily="34" charset="-122"/>
                <a:cs typeface="Calibri" pitchFamily="34" charset="-120"/>
              </a:rPr>
              <a:t>0.0%</a:t>
            </a:r>
            <a:endParaRPr lang="en-US" sz="1400" dirty="0"/>
          </a:p>
        </p:txBody>
      </p:sp>
      <p:sp>
        <p:nvSpPr>
          <p:cNvPr id="23" name="Text 21"/>
          <p:cNvSpPr/>
          <p:nvPr/>
        </p:nvSpPr>
        <p:spPr>
          <a:xfrm>
            <a:off x="3429000" y="2560320"/>
            <a:ext cx="128016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Recall</a:t>
            </a:r>
            <a:endParaRPr lang="en-US" sz="1200" dirty="0"/>
          </a:p>
        </p:txBody>
      </p:sp>
      <p:sp>
        <p:nvSpPr>
          <p:cNvPr id="24" name="Text 22"/>
          <p:cNvSpPr/>
          <p:nvPr/>
        </p:nvSpPr>
        <p:spPr>
          <a:xfrm>
            <a:off x="4709160" y="2560320"/>
            <a:ext cx="1097280" cy="457200"/>
          </a:xfrm>
          <a:prstGeom prst="rect">
            <a:avLst/>
          </a:prstGeom>
          <a:noFill/>
          <a:ln/>
        </p:spPr>
        <p:txBody>
          <a:bodyPr wrap="square" lIns="0" tIns="0" rIns="0" bIns="0" rtlCol="0" anchor="ctr"/>
          <a:lstStyle/>
          <a:p>
            <a:pPr algn="r" indent="0" marL="0">
              <a:buNone/>
            </a:pPr>
            <a:r>
              <a:rPr lang="en-US" sz="1400" b="1" dirty="0">
                <a:solidFill>
                  <a:srgbClr val="F0A500"/>
                </a:solidFill>
                <a:latin typeface="Calibri" pitchFamily="34" charset="0"/>
                <a:ea typeface="Calibri" pitchFamily="34" charset="-122"/>
                <a:cs typeface="Calibri" pitchFamily="34" charset="-120"/>
              </a:rPr>
              <a:t>0.0%</a:t>
            </a:r>
            <a:endParaRPr lang="en-US" sz="1400" dirty="0"/>
          </a:p>
        </p:txBody>
      </p:sp>
      <p:sp>
        <p:nvSpPr>
          <p:cNvPr id="25" name="Text 23"/>
          <p:cNvSpPr/>
          <p:nvPr/>
        </p:nvSpPr>
        <p:spPr>
          <a:xfrm>
            <a:off x="3429000" y="3154680"/>
            <a:ext cx="128016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F1-Score</a:t>
            </a:r>
            <a:endParaRPr lang="en-US" sz="1200" dirty="0"/>
          </a:p>
        </p:txBody>
      </p:sp>
      <p:sp>
        <p:nvSpPr>
          <p:cNvPr id="26" name="Text 24"/>
          <p:cNvSpPr/>
          <p:nvPr/>
        </p:nvSpPr>
        <p:spPr>
          <a:xfrm>
            <a:off x="4709160" y="3154680"/>
            <a:ext cx="1097280" cy="457200"/>
          </a:xfrm>
          <a:prstGeom prst="rect">
            <a:avLst/>
          </a:prstGeom>
          <a:noFill/>
          <a:ln/>
        </p:spPr>
        <p:txBody>
          <a:bodyPr wrap="square" lIns="0" tIns="0" rIns="0" bIns="0" rtlCol="0" anchor="ctr"/>
          <a:lstStyle/>
          <a:p>
            <a:pPr algn="r" indent="0" marL="0">
              <a:buNone/>
            </a:pPr>
            <a:r>
              <a:rPr lang="en-US" sz="1400" b="1" dirty="0">
                <a:solidFill>
                  <a:srgbClr val="F0A500"/>
                </a:solidFill>
                <a:latin typeface="Calibri" pitchFamily="34" charset="0"/>
                <a:ea typeface="Calibri" pitchFamily="34" charset="-122"/>
                <a:cs typeface="Calibri" pitchFamily="34" charset="-120"/>
              </a:rPr>
              <a:t>0.0%</a:t>
            </a:r>
            <a:endParaRPr lang="en-US" sz="1400" dirty="0"/>
          </a:p>
        </p:txBody>
      </p:sp>
      <p:sp>
        <p:nvSpPr>
          <p:cNvPr id="27" name="Text 25"/>
          <p:cNvSpPr/>
          <p:nvPr/>
        </p:nvSpPr>
        <p:spPr>
          <a:xfrm>
            <a:off x="3429000" y="3749040"/>
            <a:ext cx="128016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AUC-ROC</a:t>
            </a:r>
            <a:endParaRPr lang="en-US" sz="1200" dirty="0"/>
          </a:p>
        </p:txBody>
      </p:sp>
      <p:sp>
        <p:nvSpPr>
          <p:cNvPr id="28" name="Text 26"/>
          <p:cNvSpPr/>
          <p:nvPr/>
        </p:nvSpPr>
        <p:spPr>
          <a:xfrm>
            <a:off x="4709160" y="3749040"/>
            <a:ext cx="1097280" cy="457200"/>
          </a:xfrm>
          <a:prstGeom prst="rect">
            <a:avLst/>
          </a:prstGeom>
          <a:noFill/>
          <a:ln/>
        </p:spPr>
        <p:txBody>
          <a:bodyPr wrap="square" lIns="0" tIns="0" rIns="0" bIns="0" rtlCol="0" anchor="ctr"/>
          <a:lstStyle/>
          <a:p>
            <a:pPr algn="r" indent="0" marL="0">
              <a:buNone/>
            </a:pPr>
            <a:r>
              <a:rPr lang="en-US" sz="1400" b="1" dirty="0">
                <a:solidFill>
                  <a:srgbClr val="F0A500"/>
                </a:solidFill>
                <a:latin typeface="Calibri" pitchFamily="34" charset="0"/>
                <a:ea typeface="Calibri" pitchFamily="34" charset="-122"/>
                <a:cs typeface="Calibri" pitchFamily="34" charset="-120"/>
              </a:rPr>
              <a:t>0.4248</a:t>
            </a:r>
            <a:endParaRPr lang="en-US" sz="1400" dirty="0"/>
          </a:p>
        </p:txBody>
      </p:sp>
      <p:sp>
        <p:nvSpPr>
          <p:cNvPr id="29" name="Shape 27"/>
          <p:cNvSpPr/>
          <p:nvPr/>
        </p:nvSpPr>
        <p:spPr>
          <a:xfrm>
            <a:off x="6126480" y="822960"/>
            <a:ext cx="2743200" cy="4023360"/>
          </a:xfrm>
          <a:prstGeom prst="roundRect">
            <a:avLst>
              <a:gd name="adj" fmla="val 3333"/>
            </a:avLst>
          </a:prstGeom>
          <a:solidFill>
            <a:srgbClr val="E8F5EE"/>
          </a:solidFill>
          <a:ln/>
          <a:effectLst>
            <a:outerShdw sx="100000" sy="100000" kx="0" ky="0" algn="bl" rotWithShape="0" blurRad="101600" dist="25400" dir="2700000">
              <a:srgbClr val="000000">
                <a:alpha val="12000"/>
              </a:srgbClr>
            </a:outerShdw>
          </a:effectLst>
        </p:spPr>
      </p:sp>
      <p:sp>
        <p:nvSpPr>
          <p:cNvPr id="30" name="Shape 28"/>
          <p:cNvSpPr/>
          <p:nvPr/>
        </p:nvSpPr>
        <p:spPr>
          <a:xfrm>
            <a:off x="6126480" y="822960"/>
            <a:ext cx="2743200" cy="411480"/>
          </a:xfrm>
          <a:prstGeom prst="roundRect">
            <a:avLst>
              <a:gd name="adj" fmla="val 17778"/>
            </a:avLst>
          </a:prstGeom>
          <a:solidFill>
            <a:srgbClr val="0A8754"/>
          </a:solidFill>
          <a:ln/>
        </p:spPr>
      </p:sp>
      <p:sp>
        <p:nvSpPr>
          <p:cNvPr id="31" name="Text 29"/>
          <p:cNvSpPr/>
          <p:nvPr/>
        </p:nvSpPr>
        <p:spPr>
          <a:xfrm>
            <a:off x="6217920" y="850392"/>
            <a:ext cx="2560320" cy="35661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MobileNetV2  ★</a:t>
            </a:r>
            <a:endParaRPr lang="en-US" sz="1300" dirty="0"/>
          </a:p>
        </p:txBody>
      </p:sp>
      <p:sp>
        <p:nvSpPr>
          <p:cNvPr id="32" name="Text 30"/>
          <p:cNvSpPr/>
          <p:nvPr/>
        </p:nvSpPr>
        <p:spPr>
          <a:xfrm>
            <a:off x="6309360" y="1371600"/>
            <a:ext cx="128016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Accuracy</a:t>
            </a:r>
            <a:endParaRPr lang="en-US" sz="1200" dirty="0"/>
          </a:p>
        </p:txBody>
      </p:sp>
      <p:sp>
        <p:nvSpPr>
          <p:cNvPr id="33" name="Text 31"/>
          <p:cNvSpPr/>
          <p:nvPr/>
        </p:nvSpPr>
        <p:spPr>
          <a:xfrm>
            <a:off x="7589520" y="1371600"/>
            <a:ext cx="1097280" cy="457200"/>
          </a:xfrm>
          <a:prstGeom prst="rect">
            <a:avLst/>
          </a:prstGeom>
          <a:noFill/>
          <a:ln/>
        </p:spPr>
        <p:txBody>
          <a:bodyPr wrap="square" lIns="0" tIns="0" rIns="0" bIns="0" rtlCol="0" anchor="ctr"/>
          <a:lstStyle/>
          <a:p>
            <a:pPr algn="r" indent="0" marL="0">
              <a:buNone/>
            </a:pPr>
            <a:r>
              <a:rPr lang="en-US" sz="1400" b="1" dirty="0">
                <a:solidFill>
                  <a:srgbClr val="0A8754"/>
                </a:solidFill>
                <a:latin typeface="Calibri" pitchFamily="34" charset="0"/>
                <a:ea typeface="Calibri" pitchFamily="34" charset="-122"/>
                <a:cs typeface="Calibri" pitchFamily="34" charset="-120"/>
              </a:rPr>
              <a:t>94.2%</a:t>
            </a:r>
            <a:endParaRPr lang="en-US" sz="1400" dirty="0"/>
          </a:p>
        </p:txBody>
      </p:sp>
      <p:sp>
        <p:nvSpPr>
          <p:cNvPr id="34" name="Text 32"/>
          <p:cNvSpPr/>
          <p:nvPr/>
        </p:nvSpPr>
        <p:spPr>
          <a:xfrm>
            <a:off x="6309360" y="1965960"/>
            <a:ext cx="128016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Precision</a:t>
            </a:r>
            <a:endParaRPr lang="en-US" sz="1200" dirty="0"/>
          </a:p>
        </p:txBody>
      </p:sp>
      <p:sp>
        <p:nvSpPr>
          <p:cNvPr id="35" name="Text 33"/>
          <p:cNvSpPr/>
          <p:nvPr/>
        </p:nvSpPr>
        <p:spPr>
          <a:xfrm>
            <a:off x="7589520" y="1965960"/>
            <a:ext cx="1097280" cy="457200"/>
          </a:xfrm>
          <a:prstGeom prst="rect">
            <a:avLst/>
          </a:prstGeom>
          <a:noFill/>
          <a:ln/>
        </p:spPr>
        <p:txBody>
          <a:bodyPr wrap="square" lIns="0" tIns="0" rIns="0" bIns="0" rtlCol="0" anchor="ctr"/>
          <a:lstStyle/>
          <a:p>
            <a:pPr algn="r" indent="0" marL="0">
              <a:buNone/>
            </a:pPr>
            <a:r>
              <a:rPr lang="en-US" sz="1400" b="1" dirty="0">
                <a:solidFill>
                  <a:srgbClr val="0A8754"/>
                </a:solidFill>
                <a:latin typeface="Calibri" pitchFamily="34" charset="0"/>
                <a:ea typeface="Calibri" pitchFamily="34" charset="-122"/>
                <a:cs typeface="Calibri" pitchFamily="34" charset="-120"/>
              </a:rPr>
              <a:t>83.1%</a:t>
            </a:r>
            <a:endParaRPr lang="en-US" sz="1400" dirty="0"/>
          </a:p>
        </p:txBody>
      </p:sp>
      <p:sp>
        <p:nvSpPr>
          <p:cNvPr id="36" name="Text 34"/>
          <p:cNvSpPr/>
          <p:nvPr/>
        </p:nvSpPr>
        <p:spPr>
          <a:xfrm>
            <a:off x="6309360" y="2560320"/>
            <a:ext cx="128016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Recall</a:t>
            </a:r>
            <a:endParaRPr lang="en-US" sz="1200" dirty="0"/>
          </a:p>
        </p:txBody>
      </p:sp>
      <p:sp>
        <p:nvSpPr>
          <p:cNvPr id="37" name="Text 35"/>
          <p:cNvSpPr/>
          <p:nvPr/>
        </p:nvSpPr>
        <p:spPr>
          <a:xfrm>
            <a:off x="7589520" y="2560320"/>
            <a:ext cx="1097280" cy="457200"/>
          </a:xfrm>
          <a:prstGeom prst="rect">
            <a:avLst/>
          </a:prstGeom>
          <a:noFill/>
          <a:ln/>
        </p:spPr>
        <p:txBody>
          <a:bodyPr wrap="square" lIns="0" tIns="0" rIns="0" bIns="0" rtlCol="0" anchor="ctr"/>
          <a:lstStyle/>
          <a:p>
            <a:pPr algn="r" indent="0" marL="0">
              <a:buNone/>
            </a:pPr>
            <a:r>
              <a:rPr lang="en-US" sz="1400" b="1" dirty="0">
                <a:solidFill>
                  <a:srgbClr val="0A8754"/>
                </a:solidFill>
                <a:latin typeface="Calibri" pitchFamily="34" charset="0"/>
                <a:ea typeface="Calibri" pitchFamily="34" charset="-122"/>
                <a:cs typeface="Calibri" pitchFamily="34" charset="-120"/>
              </a:rPr>
              <a:t>87.7%</a:t>
            </a:r>
            <a:endParaRPr lang="en-US" sz="1400" dirty="0"/>
          </a:p>
        </p:txBody>
      </p:sp>
      <p:sp>
        <p:nvSpPr>
          <p:cNvPr id="38" name="Text 36"/>
          <p:cNvSpPr/>
          <p:nvPr/>
        </p:nvSpPr>
        <p:spPr>
          <a:xfrm>
            <a:off x="6309360" y="3154680"/>
            <a:ext cx="128016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F1-Score</a:t>
            </a:r>
            <a:endParaRPr lang="en-US" sz="1200" dirty="0"/>
          </a:p>
        </p:txBody>
      </p:sp>
      <p:sp>
        <p:nvSpPr>
          <p:cNvPr id="39" name="Text 37"/>
          <p:cNvSpPr/>
          <p:nvPr/>
        </p:nvSpPr>
        <p:spPr>
          <a:xfrm>
            <a:off x="7589520" y="3154680"/>
            <a:ext cx="1097280" cy="457200"/>
          </a:xfrm>
          <a:prstGeom prst="rect">
            <a:avLst/>
          </a:prstGeom>
          <a:noFill/>
          <a:ln/>
        </p:spPr>
        <p:txBody>
          <a:bodyPr wrap="square" lIns="0" tIns="0" rIns="0" bIns="0" rtlCol="0" anchor="ctr"/>
          <a:lstStyle/>
          <a:p>
            <a:pPr algn="r" indent="0" marL="0">
              <a:buNone/>
            </a:pPr>
            <a:r>
              <a:rPr lang="en-US" sz="1400" b="1" dirty="0">
                <a:solidFill>
                  <a:srgbClr val="0A8754"/>
                </a:solidFill>
                <a:latin typeface="Calibri" pitchFamily="34" charset="0"/>
                <a:ea typeface="Calibri" pitchFamily="34" charset="-122"/>
                <a:cs typeface="Calibri" pitchFamily="34" charset="-120"/>
              </a:rPr>
              <a:t>85.3%</a:t>
            </a:r>
            <a:endParaRPr lang="en-US" sz="1400" dirty="0"/>
          </a:p>
        </p:txBody>
      </p:sp>
      <p:sp>
        <p:nvSpPr>
          <p:cNvPr id="40" name="Text 38"/>
          <p:cNvSpPr/>
          <p:nvPr/>
        </p:nvSpPr>
        <p:spPr>
          <a:xfrm>
            <a:off x="6309360" y="3749040"/>
            <a:ext cx="128016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AUC-ROC</a:t>
            </a:r>
            <a:endParaRPr lang="en-US" sz="1200" dirty="0"/>
          </a:p>
        </p:txBody>
      </p:sp>
      <p:sp>
        <p:nvSpPr>
          <p:cNvPr id="41" name="Text 39"/>
          <p:cNvSpPr/>
          <p:nvPr/>
        </p:nvSpPr>
        <p:spPr>
          <a:xfrm>
            <a:off x="7589520" y="3749040"/>
            <a:ext cx="1097280" cy="457200"/>
          </a:xfrm>
          <a:prstGeom prst="rect">
            <a:avLst/>
          </a:prstGeom>
          <a:noFill/>
          <a:ln/>
        </p:spPr>
        <p:txBody>
          <a:bodyPr wrap="square" lIns="0" tIns="0" rIns="0" bIns="0" rtlCol="0" anchor="ctr"/>
          <a:lstStyle/>
          <a:p>
            <a:pPr algn="r" indent="0" marL="0">
              <a:buNone/>
            </a:pPr>
            <a:r>
              <a:rPr lang="en-US" sz="1400" b="1" dirty="0">
                <a:solidFill>
                  <a:srgbClr val="0A8754"/>
                </a:solidFill>
                <a:latin typeface="Calibri" pitchFamily="34" charset="0"/>
                <a:ea typeface="Calibri" pitchFamily="34" charset="-122"/>
                <a:cs typeface="Calibri" pitchFamily="34" charset="-120"/>
              </a:rPr>
              <a:t>0.9792</a:t>
            </a:r>
            <a:endParaRPr lang="en-US" sz="1400" dirty="0"/>
          </a:p>
        </p:txBody>
      </p:sp>
      <p:sp>
        <p:nvSpPr>
          <p:cNvPr id="42" name="Text 40"/>
          <p:cNvSpPr/>
          <p:nvPr/>
        </p:nvSpPr>
        <p:spPr>
          <a:xfrm>
            <a:off x="365760" y="4828032"/>
            <a:ext cx="8412480" cy="256032"/>
          </a:xfrm>
          <a:prstGeom prst="rect">
            <a:avLst/>
          </a:prstGeom>
          <a:noFill/>
          <a:ln/>
        </p:spPr>
        <p:txBody>
          <a:bodyPr wrap="square" lIns="0" tIns="0" rIns="0" bIns="0" rtlCol="0" anchor="ctr"/>
          <a:lstStyle/>
          <a:p>
            <a:pPr algn="ctr" indent="0" marL="0">
              <a:buNone/>
            </a:pPr>
            <a:r>
              <a:rPr lang="en-US" sz="1100" i="1" dirty="0">
                <a:solidFill>
                  <a:srgbClr val="C0392B"/>
                </a:solidFill>
                <a:latin typeface="Calibri" pitchFamily="34" charset="0"/>
                <a:ea typeface="Calibri" pitchFamily="34" charset="-122"/>
                <a:cs typeface="Calibri" pitchFamily="34" charset="-120"/>
              </a:rPr>
              <a:t>EfficientNetB0 predicted every sample as non-plastic — F1 of 0% on the positive class.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indent="0" marL="0">
              <a:buNone/>
            </a:pPr>
            <a:r>
              <a:rPr lang="en-US" sz="3400" b="1" dirty="0">
                <a:solidFill>
                  <a:srgbClr val="0D1B2A"/>
                </a:solidFill>
                <a:latin typeface="Calibri" pitchFamily="34" charset="0"/>
                <a:ea typeface="Calibri" pitchFamily="34" charset="-122"/>
                <a:cs typeface="Calibri" pitchFamily="34" charset="-120"/>
              </a:rPr>
              <a:t>Confusion Matrices &amp; ROC Curves</a:t>
            </a:r>
            <a:endParaRPr lang="en-US" sz="3400" dirty="0"/>
          </a:p>
        </p:txBody>
      </p:sp>
      <p:sp>
        <p:nvSpPr>
          <p:cNvPr id="3" name="Shape 1"/>
          <p:cNvSpPr/>
          <p:nvPr/>
        </p:nvSpPr>
        <p:spPr>
          <a:xfrm>
            <a:off x="365760" y="822960"/>
            <a:ext cx="2743200" cy="2651760"/>
          </a:xfrm>
          <a:prstGeom prst="roundRect">
            <a:avLst>
              <a:gd name="adj" fmla="val 3448"/>
            </a:avLst>
          </a:prstGeom>
          <a:solidFill>
            <a:srgbClr val="FFFFFF"/>
          </a:solidFill>
          <a:ln/>
          <a:effectLst>
            <a:outerShdw sx="100000" sy="100000" kx="0" ky="0" algn="bl" rotWithShape="0" blurRad="101600" dist="25400" dir="2700000">
              <a:srgbClr val="000000">
                <a:alpha val="12000"/>
              </a:srgbClr>
            </a:outerShdw>
          </a:effectLst>
        </p:spPr>
      </p:sp>
      <p:sp>
        <p:nvSpPr>
          <p:cNvPr id="4" name="Shape 2"/>
          <p:cNvSpPr/>
          <p:nvPr/>
        </p:nvSpPr>
        <p:spPr>
          <a:xfrm>
            <a:off x="365760" y="822960"/>
            <a:ext cx="2743200" cy="365760"/>
          </a:xfrm>
          <a:prstGeom prst="roundRect">
            <a:avLst>
              <a:gd name="adj" fmla="val 20000"/>
            </a:avLst>
          </a:prstGeom>
          <a:solidFill>
            <a:srgbClr val="0E9AA7"/>
          </a:solidFill>
          <a:ln/>
        </p:spPr>
      </p:sp>
      <p:sp>
        <p:nvSpPr>
          <p:cNvPr id="5" name="Text 3"/>
          <p:cNvSpPr/>
          <p:nvPr/>
        </p:nvSpPr>
        <p:spPr>
          <a:xfrm>
            <a:off x="457200" y="850392"/>
            <a:ext cx="256032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Custom CNN</a:t>
            </a:r>
            <a:endParaRPr lang="en-US" sz="1200" dirty="0"/>
          </a:p>
        </p:txBody>
      </p:sp>
      <p:sp>
        <p:nvSpPr>
          <p:cNvPr id="6" name="Shape 4"/>
          <p:cNvSpPr/>
          <p:nvPr/>
        </p:nvSpPr>
        <p:spPr>
          <a:xfrm>
            <a:off x="594360" y="1298448"/>
            <a:ext cx="1005840" cy="594360"/>
          </a:xfrm>
          <a:prstGeom prst="roundRect">
            <a:avLst>
              <a:gd name="adj" fmla="val 9231"/>
            </a:avLst>
          </a:prstGeom>
          <a:solidFill>
            <a:srgbClr val="0A3D2B"/>
          </a:solidFill>
          <a:ln/>
        </p:spPr>
      </p:sp>
      <p:sp>
        <p:nvSpPr>
          <p:cNvPr id="7" name="Text 5"/>
          <p:cNvSpPr/>
          <p:nvPr/>
        </p:nvSpPr>
        <p:spPr>
          <a:xfrm>
            <a:off x="594360" y="1298448"/>
            <a:ext cx="10058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TN: 297</a:t>
            </a:r>
            <a:endParaRPr lang="en-US" sz="1300" dirty="0"/>
          </a:p>
        </p:txBody>
      </p:sp>
      <p:sp>
        <p:nvSpPr>
          <p:cNvPr id="8" name="Shape 6"/>
          <p:cNvSpPr/>
          <p:nvPr/>
        </p:nvSpPr>
        <p:spPr>
          <a:xfrm>
            <a:off x="1783080" y="1298448"/>
            <a:ext cx="1005840" cy="594360"/>
          </a:xfrm>
          <a:prstGeom prst="roundRect">
            <a:avLst>
              <a:gd name="adj" fmla="val 9231"/>
            </a:avLst>
          </a:prstGeom>
          <a:solidFill>
            <a:srgbClr val="4A7C6F"/>
          </a:solidFill>
          <a:ln/>
        </p:spPr>
      </p:sp>
      <p:sp>
        <p:nvSpPr>
          <p:cNvPr id="9" name="Text 7"/>
          <p:cNvSpPr/>
          <p:nvPr/>
        </p:nvSpPr>
        <p:spPr>
          <a:xfrm>
            <a:off x="1783080" y="1298448"/>
            <a:ext cx="10058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FP: 10</a:t>
            </a:r>
            <a:endParaRPr lang="en-US" sz="1300" dirty="0"/>
          </a:p>
        </p:txBody>
      </p:sp>
      <p:sp>
        <p:nvSpPr>
          <p:cNvPr id="10" name="Shape 8"/>
          <p:cNvSpPr/>
          <p:nvPr/>
        </p:nvSpPr>
        <p:spPr>
          <a:xfrm>
            <a:off x="594360" y="2029968"/>
            <a:ext cx="1005840" cy="594360"/>
          </a:xfrm>
          <a:prstGeom prst="roundRect">
            <a:avLst>
              <a:gd name="adj" fmla="val 9231"/>
            </a:avLst>
          </a:prstGeom>
          <a:solidFill>
            <a:srgbClr val="C0392B"/>
          </a:solidFill>
          <a:ln/>
        </p:spPr>
      </p:sp>
      <p:sp>
        <p:nvSpPr>
          <p:cNvPr id="11" name="Text 9"/>
          <p:cNvSpPr/>
          <p:nvPr/>
        </p:nvSpPr>
        <p:spPr>
          <a:xfrm>
            <a:off x="594360" y="2029968"/>
            <a:ext cx="10058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FN: 50</a:t>
            </a:r>
            <a:endParaRPr lang="en-US" sz="1300" dirty="0"/>
          </a:p>
        </p:txBody>
      </p:sp>
      <p:sp>
        <p:nvSpPr>
          <p:cNvPr id="12" name="Shape 10"/>
          <p:cNvSpPr/>
          <p:nvPr/>
        </p:nvSpPr>
        <p:spPr>
          <a:xfrm>
            <a:off x="1783080" y="2029968"/>
            <a:ext cx="1005840" cy="594360"/>
          </a:xfrm>
          <a:prstGeom prst="roundRect">
            <a:avLst>
              <a:gd name="adj" fmla="val 9231"/>
            </a:avLst>
          </a:prstGeom>
          <a:solidFill>
            <a:srgbClr val="196F3D"/>
          </a:solidFill>
          <a:ln/>
        </p:spPr>
      </p:sp>
      <p:sp>
        <p:nvSpPr>
          <p:cNvPr id="13" name="Text 11"/>
          <p:cNvSpPr/>
          <p:nvPr/>
        </p:nvSpPr>
        <p:spPr>
          <a:xfrm>
            <a:off x="1783080" y="2029968"/>
            <a:ext cx="10058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TP: 23</a:t>
            </a:r>
            <a:endParaRPr lang="en-US" sz="1300" dirty="0"/>
          </a:p>
        </p:txBody>
      </p:sp>
      <p:sp>
        <p:nvSpPr>
          <p:cNvPr id="14" name="Shape 12"/>
          <p:cNvSpPr/>
          <p:nvPr/>
        </p:nvSpPr>
        <p:spPr>
          <a:xfrm>
            <a:off x="3246120" y="822960"/>
            <a:ext cx="2743200" cy="2651760"/>
          </a:xfrm>
          <a:prstGeom prst="roundRect">
            <a:avLst>
              <a:gd name="adj" fmla="val 3448"/>
            </a:avLst>
          </a:prstGeom>
          <a:solidFill>
            <a:srgbClr val="FFFFFF"/>
          </a:solidFill>
          <a:ln/>
          <a:effectLst>
            <a:outerShdw sx="100000" sy="100000" kx="0" ky="0" algn="bl" rotWithShape="0" blurRad="101600" dist="25400" dir="2700000">
              <a:srgbClr val="000000">
                <a:alpha val="12000"/>
              </a:srgbClr>
            </a:outerShdw>
          </a:effectLst>
        </p:spPr>
      </p:sp>
      <p:sp>
        <p:nvSpPr>
          <p:cNvPr id="15" name="Shape 13"/>
          <p:cNvSpPr/>
          <p:nvPr/>
        </p:nvSpPr>
        <p:spPr>
          <a:xfrm>
            <a:off x="3246120" y="822960"/>
            <a:ext cx="2743200" cy="365760"/>
          </a:xfrm>
          <a:prstGeom prst="roundRect">
            <a:avLst>
              <a:gd name="adj" fmla="val 20000"/>
            </a:avLst>
          </a:prstGeom>
          <a:solidFill>
            <a:srgbClr val="F0A500"/>
          </a:solidFill>
          <a:ln/>
        </p:spPr>
      </p:sp>
      <p:sp>
        <p:nvSpPr>
          <p:cNvPr id="16" name="Text 14"/>
          <p:cNvSpPr/>
          <p:nvPr/>
        </p:nvSpPr>
        <p:spPr>
          <a:xfrm>
            <a:off x="3337560" y="850392"/>
            <a:ext cx="256032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EfficientNetB0</a:t>
            </a:r>
            <a:endParaRPr lang="en-US" sz="1200" dirty="0"/>
          </a:p>
        </p:txBody>
      </p:sp>
      <p:sp>
        <p:nvSpPr>
          <p:cNvPr id="17" name="Shape 15"/>
          <p:cNvSpPr/>
          <p:nvPr/>
        </p:nvSpPr>
        <p:spPr>
          <a:xfrm>
            <a:off x="3474720" y="1298448"/>
            <a:ext cx="1005840" cy="594360"/>
          </a:xfrm>
          <a:prstGeom prst="roundRect">
            <a:avLst>
              <a:gd name="adj" fmla="val 9231"/>
            </a:avLst>
          </a:prstGeom>
          <a:solidFill>
            <a:srgbClr val="0A3D2B"/>
          </a:solidFill>
          <a:ln/>
        </p:spPr>
      </p:sp>
      <p:sp>
        <p:nvSpPr>
          <p:cNvPr id="18" name="Text 16"/>
          <p:cNvSpPr/>
          <p:nvPr/>
        </p:nvSpPr>
        <p:spPr>
          <a:xfrm>
            <a:off x="3474720" y="1298448"/>
            <a:ext cx="10058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TN: 307</a:t>
            </a:r>
            <a:endParaRPr lang="en-US" sz="1300" dirty="0"/>
          </a:p>
        </p:txBody>
      </p:sp>
      <p:sp>
        <p:nvSpPr>
          <p:cNvPr id="19" name="Shape 17"/>
          <p:cNvSpPr/>
          <p:nvPr/>
        </p:nvSpPr>
        <p:spPr>
          <a:xfrm>
            <a:off x="4663440" y="1298448"/>
            <a:ext cx="1005840" cy="594360"/>
          </a:xfrm>
          <a:prstGeom prst="roundRect">
            <a:avLst>
              <a:gd name="adj" fmla="val 9231"/>
            </a:avLst>
          </a:prstGeom>
          <a:solidFill>
            <a:srgbClr val="4A7C6F"/>
          </a:solidFill>
          <a:ln/>
        </p:spPr>
      </p:sp>
      <p:sp>
        <p:nvSpPr>
          <p:cNvPr id="20" name="Text 18"/>
          <p:cNvSpPr/>
          <p:nvPr/>
        </p:nvSpPr>
        <p:spPr>
          <a:xfrm>
            <a:off x="4663440" y="1298448"/>
            <a:ext cx="10058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FP: 0</a:t>
            </a:r>
            <a:endParaRPr lang="en-US" sz="1300" dirty="0"/>
          </a:p>
        </p:txBody>
      </p:sp>
      <p:sp>
        <p:nvSpPr>
          <p:cNvPr id="21" name="Shape 19"/>
          <p:cNvSpPr/>
          <p:nvPr/>
        </p:nvSpPr>
        <p:spPr>
          <a:xfrm>
            <a:off x="3474720" y="2029968"/>
            <a:ext cx="1005840" cy="594360"/>
          </a:xfrm>
          <a:prstGeom prst="roundRect">
            <a:avLst>
              <a:gd name="adj" fmla="val 9231"/>
            </a:avLst>
          </a:prstGeom>
          <a:solidFill>
            <a:srgbClr val="C0392B"/>
          </a:solidFill>
          <a:ln/>
        </p:spPr>
      </p:sp>
      <p:sp>
        <p:nvSpPr>
          <p:cNvPr id="22" name="Text 20"/>
          <p:cNvSpPr/>
          <p:nvPr/>
        </p:nvSpPr>
        <p:spPr>
          <a:xfrm>
            <a:off x="3474720" y="2029968"/>
            <a:ext cx="10058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FN: 73</a:t>
            </a:r>
            <a:endParaRPr lang="en-US" sz="1300" dirty="0"/>
          </a:p>
        </p:txBody>
      </p:sp>
      <p:sp>
        <p:nvSpPr>
          <p:cNvPr id="23" name="Shape 21"/>
          <p:cNvSpPr/>
          <p:nvPr/>
        </p:nvSpPr>
        <p:spPr>
          <a:xfrm>
            <a:off x="4663440" y="2029968"/>
            <a:ext cx="1005840" cy="594360"/>
          </a:xfrm>
          <a:prstGeom prst="roundRect">
            <a:avLst>
              <a:gd name="adj" fmla="val 9231"/>
            </a:avLst>
          </a:prstGeom>
          <a:solidFill>
            <a:srgbClr val="196F3D"/>
          </a:solidFill>
          <a:ln/>
        </p:spPr>
      </p:sp>
      <p:sp>
        <p:nvSpPr>
          <p:cNvPr id="24" name="Text 22"/>
          <p:cNvSpPr/>
          <p:nvPr/>
        </p:nvSpPr>
        <p:spPr>
          <a:xfrm>
            <a:off x="4663440" y="2029968"/>
            <a:ext cx="10058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TP: 0</a:t>
            </a:r>
            <a:endParaRPr lang="en-US" sz="1300" dirty="0"/>
          </a:p>
        </p:txBody>
      </p:sp>
      <p:sp>
        <p:nvSpPr>
          <p:cNvPr id="25" name="Shape 23"/>
          <p:cNvSpPr/>
          <p:nvPr/>
        </p:nvSpPr>
        <p:spPr>
          <a:xfrm>
            <a:off x="6126480" y="822960"/>
            <a:ext cx="2743200" cy="2651760"/>
          </a:xfrm>
          <a:prstGeom prst="roundRect">
            <a:avLst>
              <a:gd name="adj" fmla="val 3448"/>
            </a:avLst>
          </a:prstGeom>
          <a:solidFill>
            <a:srgbClr val="FFFFFF"/>
          </a:solidFill>
          <a:ln/>
          <a:effectLst>
            <a:outerShdw sx="100000" sy="100000" kx="0" ky="0" algn="bl" rotWithShape="0" blurRad="101600" dist="25400" dir="2700000">
              <a:srgbClr val="000000">
                <a:alpha val="12000"/>
              </a:srgbClr>
            </a:outerShdw>
          </a:effectLst>
        </p:spPr>
      </p:sp>
      <p:sp>
        <p:nvSpPr>
          <p:cNvPr id="26" name="Shape 24"/>
          <p:cNvSpPr/>
          <p:nvPr/>
        </p:nvSpPr>
        <p:spPr>
          <a:xfrm>
            <a:off x="6126480" y="822960"/>
            <a:ext cx="2743200" cy="365760"/>
          </a:xfrm>
          <a:prstGeom prst="roundRect">
            <a:avLst>
              <a:gd name="adj" fmla="val 20000"/>
            </a:avLst>
          </a:prstGeom>
          <a:solidFill>
            <a:srgbClr val="0A8754"/>
          </a:solidFill>
          <a:ln/>
        </p:spPr>
      </p:sp>
      <p:sp>
        <p:nvSpPr>
          <p:cNvPr id="27" name="Text 25"/>
          <p:cNvSpPr/>
          <p:nvPr/>
        </p:nvSpPr>
        <p:spPr>
          <a:xfrm>
            <a:off x="6217920" y="850392"/>
            <a:ext cx="256032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MobileNetV2</a:t>
            </a:r>
            <a:endParaRPr lang="en-US" sz="1200" dirty="0"/>
          </a:p>
        </p:txBody>
      </p:sp>
      <p:sp>
        <p:nvSpPr>
          <p:cNvPr id="28" name="Shape 26"/>
          <p:cNvSpPr/>
          <p:nvPr/>
        </p:nvSpPr>
        <p:spPr>
          <a:xfrm>
            <a:off x="6355080" y="1298448"/>
            <a:ext cx="1005840" cy="594360"/>
          </a:xfrm>
          <a:prstGeom prst="roundRect">
            <a:avLst>
              <a:gd name="adj" fmla="val 9231"/>
            </a:avLst>
          </a:prstGeom>
          <a:solidFill>
            <a:srgbClr val="0A3D2B"/>
          </a:solidFill>
          <a:ln/>
        </p:spPr>
      </p:sp>
      <p:sp>
        <p:nvSpPr>
          <p:cNvPr id="29" name="Text 27"/>
          <p:cNvSpPr/>
          <p:nvPr/>
        </p:nvSpPr>
        <p:spPr>
          <a:xfrm>
            <a:off x="6355080" y="1298448"/>
            <a:ext cx="10058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TN: 294</a:t>
            </a:r>
            <a:endParaRPr lang="en-US" sz="1300" dirty="0"/>
          </a:p>
        </p:txBody>
      </p:sp>
      <p:sp>
        <p:nvSpPr>
          <p:cNvPr id="30" name="Shape 28"/>
          <p:cNvSpPr/>
          <p:nvPr/>
        </p:nvSpPr>
        <p:spPr>
          <a:xfrm>
            <a:off x="7543800" y="1298448"/>
            <a:ext cx="1005840" cy="594360"/>
          </a:xfrm>
          <a:prstGeom prst="roundRect">
            <a:avLst>
              <a:gd name="adj" fmla="val 9231"/>
            </a:avLst>
          </a:prstGeom>
          <a:solidFill>
            <a:srgbClr val="4A7C6F"/>
          </a:solidFill>
          <a:ln/>
        </p:spPr>
      </p:sp>
      <p:sp>
        <p:nvSpPr>
          <p:cNvPr id="31" name="Text 29"/>
          <p:cNvSpPr/>
          <p:nvPr/>
        </p:nvSpPr>
        <p:spPr>
          <a:xfrm>
            <a:off x="7543800" y="1298448"/>
            <a:ext cx="10058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FP: 13</a:t>
            </a:r>
            <a:endParaRPr lang="en-US" sz="1300" dirty="0"/>
          </a:p>
        </p:txBody>
      </p:sp>
      <p:sp>
        <p:nvSpPr>
          <p:cNvPr id="32" name="Shape 30"/>
          <p:cNvSpPr/>
          <p:nvPr/>
        </p:nvSpPr>
        <p:spPr>
          <a:xfrm>
            <a:off x="6355080" y="2029968"/>
            <a:ext cx="1005840" cy="594360"/>
          </a:xfrm>
          <a:prstGeom prst="roundRect">
            <a:avLst>
              <a:gd name="adj" fmla="val 9231"/>
            </a:avLst>
          </a:prstGeom>
          <a:solidFill>
            <a:srgbClr val="C0392B"/>
          </a:solidFill>
          <a:ln/>
        </p:spPr>
      </p:sp>
      <p:sp>
        <p:nvSpPr>
          <p:cNvPr id="33" name="Text 31"/>
          <p:cNvSpPr/>
          <p:nvPr/>
        </p:nvSpPr>
        <p:spPr>
          <a:xfrm>
            <a:off x="6355080" y="2029968"/>
            <a:ext cx="10058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FN: 9</a:t>
            </a:r>
            <a:endParaRPr lang="en-US" sz="1300" dirty="0"/>
          </a:p>
        </p:txBody>
      </p:sp>
      <p:sp>
        <p:nvSpPr>
          <p:cNvPr id="34" name="Shape 32"/>
          <p:cNvSpPr/>
          <p:nvPr/>
        </p:nvSpPr>
        <p:spPr>
          <a:xfrm>
            <a:off x="7543800" y="2029968"/>
            <a:ext cx="1005840" cy="594360"/>
          </a:xfrm>
          <a:prstGeom prst="roundRect">
            <a:avLst>
              <a:gd name="adj" fmla="val 9231"/>
            </a:avLst>
          </a:prstGeom>
          <a:solidFill>
            <a:srgbClr val="196F3D"/>
          </a:solidFill>
          <a:ln/>
        </p:spPr>
      </p:sp>
      <p:sp>
        <p:nvSpPr>
          <p:cNvPr id="35" name="Text 33"/>
          <p:cNvSpPr/>
          <p:nvPr/>
        </p:nvSpPr>
        <p:spPr>
          <a:xfrm>
            <a:off x="7543800" y="2029968"/>
            <a:ext cx="100584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TP: 64</a:t>
            </a:r>
            <a:endParaRPr lang="en-US" sz="1300" dirty="0"/>
          </a:p>
        </p:txBody>
      </p:sp>
      <p:sp>
        <p:nvSpPr>
          <p:cNvPr id="36" name="Text 34"/>
          <p:cNvSpPr/>
          <p:nvPr/>
        </p:nvSpPr>
        <p:spPr>
          <a:xfrm>
            <a:off x="457200" y="3657600"/>
            <a:ext cx="2743200" cy="320040"/>
          </a:xfrm>
          <a:prstGeom prst="rect">
            <a:avLst/>
          </a:prstGeom>
          <a:noFill/>
          <a:ln/>
        </p:spPr>
        <p:txBody>
          <a:bodyPr wrap="square" lIns="0" tIns="0" rIns="0" bIns="0"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AUC-ROC Scores</a:t>
            </a:r>
            <a:endParaRPr lang="en-US" sz="1400" dirty="0"/>
          </a:p>
        </p:txBody>
      </p:sp>
      <p:sp>
        <p:nvSpPr>
          <p:cNvPr id="37" name="Text 35"/>
          <p:cNvSpPr/>
          <p:nvPr/>
        </p:nvSpPr>
        <p:spPr>
          <a:xfrm>
            <a:off x="457200" y="4114800"/>
            <a:ext cx="20116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MobileNetV2</a:t>
            </a:r>
            <a:endParaRPr lang="en-US" sz="1100" dirty="0"/>
          </a:p>
        </p:txBody>
      </p:sp>
      <p:sp>
        <p:nvSpPr>
          <p:cNvPr id="38" name="Shape 36"/>
          <p:cNvSpPr/>
          <p:nvPr/>
        </p:nvSpPr>
        <p:spPr>
          <a:xfrm>
            <a:off x="2468880" y="4151376"/>
            <a:ext cx="4924593" cy="201168"/>
          </a:xfrm>
          <a:prstGeom prst="roundRect">
            <a:avLst>
              <a:gd name="adj" fmla="val 18182"/>
            </a:avLst>
          </a:prstGeom>
          <a:solidFill>
            <a:srgbClr val="0A8754"/>
          </a:solidFill>
          <a:ln/>
        </p:spPr>
      </p:sp>
      <p:sp>
        <p:nvSpPr>
          <p:cNvPr id="39" name="Text 37"/>
          <p:cNvSpPr/>
          <p:nvPr/>
        </p:nvSpPr>
        <p:spPr>
          <a:xfrm>
            <a:off x="7484913" y="4114800"/>
            <a:ext cx="822960" cy="274320"/>
          </a:xfrm>
          <a:prstGeom prst="rect">
            <a:avLst/>
          </a:prstGeom>
          <a:noFill/>
          <a:ln/>
        </p:spPr>
        <p:txBody>
          <a:bodyPr wrap="square" lIns="0" tIns="0" rIns="0" bIns="0" rtlCol="0" anchor="ctr"/>
          <a:lstStyle/>
          <a:p>
            <a:pPr indent="0" marL="0">
              <a:buNone/>
            </a:pPr>
            <a:r>
              <a:rPr lang="en-US" sz="1100" b="1" dirty="0">
                <a:solidFill>
                  <a:srgbClr val="0A8754"/>
                </a:solidFill>
                <a:latin typeface="Calibri" pitchFamily="34" charset="0"/>
                <a:ea typeface="Calibri" pitchFamily="34" charset="-122"/>
                <a:cs typeface="Calibri" pitchFamily="34" charset="-120"/>
              </a:rPr>
              <a:t>0.9792</a:t>
            </a:r>
            <a:endParaRPr lang="en-US" sz="1100" dirty="0"/>
          </a:p>
        </p:txBody>
      </p:sp>
      <p:sp>
        <p:nvSpPr>
          <p:cNvPr id="40" name="Text 38"/>
          <p:cNvSpPr/>
          <p:nvPr/>
        </p:nvSpPr>
        <p:spPr>
          <a:xfrm>
            <a:off x="457200" y="4434840"/>
            <a:ext cx="20116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Custom CNN</a:t>
            </a:r>
            <a:endParaRPr lang="en-US" sz="1100" dirty="0"/>
          </a:p>
        </p:txBody>
      </p:sp>
      <p:sp>
        <p:nvSpPr>
          <p:cNvPr id="41" name="Shape 39"/>
          <p:cNvSpPr/>
          <p:nvPr/>
        </p:nvSpPr>
        <p:spPr>
          <a:xfrm>
            <a:off x="2468880" y="4471416"/>
            <a:ext cx="4282867" cy="201168"/>
          </a:xfrm>
          <a:prstGeom prst="roundRect">
            <a:avLst>
              <a:gd name="adj" fmla="val 18182"/>
            </a:avLst>
          </a:prstGeom>
          <a:solidFill>
            <a:srgbClr val="0E9AA7"/>
          </a:solidFill>
          <a:ln/>
        </p:spPr>
      </p:sp>
      <p:sp>
        <p:nvSpPr>
          <p:cNvPr id="42" name="Text 40"/>
          <p:cNvSpPr/>
          <p:nvPr/>
        </p:nvSpPr>
        <p:spPr>
          <a:xfrm>
            <a:off x="6843187" y="4434840"/>
            <a:ext cx="822960" cy="274320"/>
          </a:xfrm>
          <a:prstGeom prst="rect">
            <a:avLst/>
          </a:prstGeom>
          <a:noFill/>
          <a:ln/>
        </p:spPr>
        <p:txBody>
          <a:bodyPr wrap="square" lIns="0" tIns="0" rIns="0" bIns="0" rtlCol="0" anchor="ctr"/>
          <a:lstStyle/>
          <a:p>
            <a:pPr indent="0" marL="0">
              <a:buNone/>
            </a:pPr>
            <a:r>
              <a:rPr lang="en-US" sz="1100" b="1" dirty="0">
                <a:solidFill>
                  <a:srgbClr val="0E9AA7"/>
                </a:solidFill>
                <a:latin typeface="Calibri" pitchFamily="34" charset="0"/>
                <a:ea typeface="Calibri" pitchFamily="34" charset="-122"/>
                <a:cs typeface="Calibri" pitchFamily="34" charset="-120"/>
              </a:rPr>
              <a:t>0.8516</a:t>
            </a:r>
            <a:endParaRPr lang="en-US" sz="1100" dirty="0"/>
          </a:p>
        </p:txBody>
      </p:sp>
      <p:sp>
        <p:nvSpPr>
          <p:cNvPr id="43" name="Text 41"/>
          <p:cNvSpPr/>
          <p:nvPr/>
        </p:nvSpPr>
        <p:spPr>
          <a:xfrm>
            <a:off x="457200" y="4754880"/>
            <a:ext cx="201168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EfficientNetB0</a:t>
            </a:r>
            <a:endParaRPr lang="en-US" sz="1100" dirty="0"/>
          </a:p>
        </p:txBody>
      </p:sp>
      <p:sp>
        <p:nvSpPr>
          <p:cNvPr id="44" name="Shape 42"/>
          <p:cNvSpPr/>
          <p:nvPr/>
        </p:nvSpPr>
        <p:spPr>
          <a:xfrm>
            <a:off x="2468880" y="4791456"/>
            <a:ext cx="2136404" cy="201168"/>
          </a:xfrm>
          <a:prstGeom prst="roundRect">
            <a:avLst>
              <a:gd name="adj" fmla="val 18182"/>
            </a:avLst>
          </a:prstGeom>
          <a:solidFill>
            <a:srgbClr val="F0A500"/>
          </a:solidFill>
          <a:ln/>
        </p:spPr>
      </p:sp>
      <p:sp>
        <p:nvSpPr>
          <p:cNvPr id="45" name="Text 43"/>
          <p:cNvSpPr/>
          <p:nvPr/>
        </p:nvSpPr>
        <p:spPr>
          <a:xfrm>
            <a:off x="4696724" y="4754880"/>
            <a:ext cx="822960" cy="274320"/>
          </a:xfrm>
          <a:prstGeom prst="rect">
            <a:avLst/>
          </a:prstGeom>
          <a:noFill/>
          <a:ln/>
        </p:spPr>
        <p:txBody>
          <a:bodyPr wrap="square" lIns="0" tIns="0" rIns="0" bIns="0" rtlCol="0" anchor="ctr"/>
          <a:lstStyle/>
          <a:p>
            <a:pPr indent="0" marL="0">
              <a:buNone/>
            </a:pPr>
            <a:r>
              <a:rPr lang="en-US" sz="1100" b="1" dirty="0">
                <a:solidFill>
                  <a:srgbClr val="F0A500"/>
                </a:solidFill>
                <a:latin typeface="Calibri" pitchFamily="34" charset="0"/>
                <a:ea typeface="Calibri" pitchFamily="34" charset="-122"/>
                <a:cs typeface="Calibri" pitchFamily="34" charset="-120"/>
              </a:rPr>
              <a:t>0.4248</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What Is the CNN Looking At?</a:t>
            </a:r>
            <a:endParaRPr lang="en-US" sz="3400" dirty="0"/>
          </a:p>
        </p:txBody>
      </p:sp>
      <p:sp>
        <p:nvSpPr>
          <p:cNvPr id="3" name="Text 1"/>
          <p:cNvSpPr/>
          <p:nvPr/>
        </p:nvSpPr>
        <p:spPr>
          <a:xfrm>
            <a:off x="457200" y="804672"/>
            <a:ext cx="8229600" cy="347472"/>
          </a:xfrm>
          <a:prstGeom prst="rect">
            <a:avLst/>
          </a:prstGeom>
          <a:noFill/>
          <a:ln/>
        </p:spPr>
        <p:txBody>
          <a:bodyPr wrap="square" lIns="0" tIns="0" rIns="0" bIns="0" rtlCol="0" anchor="ctr"/>
          <a:lstStyle/>
          <a:p>
            <a:pPr indent="0" marL="0">
              <a:buNone/>
            </a:pPr>
            <a:r>
              <a:rPr lang="en-US" sz="1400" i="1" dirty="0">
                <a:solidFill>
                  <a:srgbClr val="AAC8C4"/>
                </a:solidFill>
                <a:latin typeface="Calibri" pitchFamily="34" charset="0"/>
                <a:ea typeface="Calibri" pitchFamily="34" charset="-122"/>
                <a:cs typeface="Calibri" pitchFamily="34" charset="-120"/>
              </a:rPr>
              <a:t>Grad-CAM Visualisation — Gradient-weighted Class Activation Maps</a:t>
            </a:r>
            <a:endParaRPr lang="en-US" sz="1400" dirty="0"/>
          </a:p>
        </p:txBody>
      </p:sp>
      <p:sp>
        <p:nvSpPr>
          <p:cNvPr id="4" name="Shape 2"/>
          <p:cNvSpPr/>
          <p:nvPr/>
        </p:nvSpPr>
        <p:spPr>
          <a:xfrm>
            <a:off x="365760" y="1325880"/>
            <a:ext cx="2743200" cy="3566160"/>
          </a:xfrm>
          <a:prstGeom prst="roundRect">
            <a:avLst>
              <a:gd name="adj" fmla="val 3333"/>
            </a:avLst>
          </a:prstGeom>
          <a:solidFill>
            <a:srgbClr val="1A2B3C"/>
          </a:solidFill>
          <a:ln/>
          <a:effectLst>
            <a:outerShdw sx="100000" sy="100000" kx="0" ky="0" algn="bl" rotWithShape="0" blurRad="101600" dist="25400" dir="2700000">
              <a:srgbClr val="000000">
                <a:alpha val="12000"/>
              </a:srgbClr>
            </a:outerShdw>
          </a:effectLst>
        </p:spPr>
      </p:sp>
      <p:sp>
        <p:nvSpPr>
          <p:cNvPr id="5" name="Text 3"/>
          <p:cNvSpPr/>
          <p:nvPr/>
        </p:nvSpPr>
        <p:spPr>
          <a:xfrm>
            <a:off x="502920" y="1444752"/>
            <a:ext cx="2468880" cy="411480"/>
          </a:xfrm>
          <a:prstGeom prst="rect">
            <a:avLst/>
          </a:prstGeom>
          <a:noFill/>
          <a:ln/>
        </p:spPr>
        <p:txBody>
          <a:bodyPr wrap="square" lIns="0" tIns="0" rIns="0" bIns="0" rtlCol="0" anchor="ctr"/>
          <a:lstStyle/>
          <a:p>
            <a:pPr indent="0" marL="0">
              <a:buNone/>
            </a:pPr>
            <a:r>
              <a:rPr lang="en-US" sz="1300" b="1" dirty="0">
                <a:solidFill>
                  <a:srgbClr val="0A8754"/>
                </a:solidFill>
                <a:latin typeface="Calibri" pitchFamily="34" charset="0"/>
                <a:ea typeface="Calibri" pitchFamily="34" charset="-122"/>
                <a:cs typeface="Calibri" pitchFamily="34" charset="-120"/>
              </a:rPr>
              <a:t>✅  Correct — Plastic</a:t>
            </a:r>
            <a:endParaRPr lang="en-US" sz="1300" dirty="0"/>
          </a:p>
        </p:txBody>
      </p:sp>
      <p:sp>
        <p:nvSpPr>
          <p:cNvPr id="6" name="Text 4"/>
          <p:cNvSpPr/>
          <p:nvPr/>
        </p:nvSpPr>
        <p:spPr>
          <a:xfrm>
            <a:off x="502920" y="1920240"/>
            <a:ext cx="2468880" cy="2743200"/>
          </a:xfrm>
          <a:prstGeom prst="rect">
            <a:avLst/>
          </a:prstGeom>
          <a:noFill/>
          <a:ln/>
        </p:spPr>
        <p:txBody>
          <a:bodyPr wrap="square" lIns="0" tIns="0" rIns="0" bIns="0" rtlCol="0" anchor="ctr"/>
          <a:lstStyle/>
          <a:p>
            <a:pPr indent="0" marL="0">
              <a:buNone/>
            </a:pPr>
            <a:r>
              <a:rPr lang="en-US" sz="1200" dirty="0">
                <a:solidFill>
                  <a:srgbClr val="C8D8E4"/>
                </a:solidFill>
                <a:latin typeface="Calibri" pitchFamily="34" charset="0"/>
                <a:ea typeface="Calibri" pitchFamily="34" charset="-122"/>
                <a:cs typeface="Calibri" pitchFamily="34" charset="-120"/>
              </a:rPr>
              <a:t>Model focuses on the body and texture of plastic bottles/containers. Heatmap concentrated on the object's surface — correct signal.</a:t>
            </a:r>
            <a:endParaRPr lang="en-US" sz="1200" dirty="0"/>
          </a:p>
        </p:txBody>
      </p:sp>
      <p:sp>
        <p:nvSpPr>
          <p:cNvPr id="7" name="Shape 5"/>
          <p:cNvSpPr/>
          <p:nvPr/>
        </p:nvSpPr>
        <p:spPr>
          <a:xfrm>
            <a:off x="3246120" y="1325880"/>
            <a:ext cx="2743200" cy="3566160"/>
          </a:xfrm>
          <a:prstGeom prst="roundRect">
            <a:avLst>
              <a:gd name="adj" fmla="val 3333"/>
            </a:avLst>
          </a:prstGeom>
          <a:solidFill>
            <a:srgbClr val="1A2B3C"/>
          </a:solidFill>
          <a:ln/>
          <a:effectLst>
            <a:outerShdw sx="100000" sy="100000" kx="0" ky="0" algn="bl" rotWithShape="0" blurRad="101600" dist="25400" dir="2700000">
              <a:srgbClr val="000000">
                <a:alpha val="12000"/>
              </a:srgbClr>
            </a:outerShdw>
          </a:effectLst>
        </p:spPr>
      </p:sp>
      <p:sp>
        <p:nvSpPr>
          <p:cNvPr id="8" name="Text 6"/>
          <p:cNvSpPr/>
          <p:nvPr/>
        </p:nvSpPr>
        <p:spPr>
          <a:xfrm>
            <a:off x="3383280" y="1444752"/>
            <a:ext cx="2468880" cy="411480"/>
          </a:xfrm>
          <a:prstGeom prst="rect">
            <a:avLst/>
          </a:prstGeom>
          <a:noFill/>
          <a:ln/>
        </p:spPr>
        <p:txBody>
          <a:bodyPr wrap="square" lIns="0" tIns="0" rIns="0" bIns="0" rtlCol="0" anchor="ctr"/>
          <a:lstStyle/>
          <a:p>
            <a:pPr indent="0" marL="0">
              <a:buNone/>
            </a:pPr>
            <a:r>
              <a:rPr lang="en-US" sz="1300" b="1" dirty="0">
                <a:solidFill>
                  <a:srgbClr val="F0A500"/>
                </a:solidFill>
                <a:latin typeface="Calibri" pitchFamily="34" charset="0"/>
                <a:ea typeface="Calibri" pitchFamily="34" charset="-122"/>
                <a:cs typeface="Calibri" pitchFamily="34" charset="-120"/>
              </a:rPr>
              <a:t>❌  Wrong — Plastic missed</a:t>
            </a:r>
            <a:endParaRPr lang="en-US" sz="1300" dirty="0"/>
          </a:p>
        </p:txBody>
      </p:sp>
      <p:sp>
        <p:nvSpPr>
          <p:cNvPr id="9" name="Text 7"/>
          <p:cNvSpPr/>
          <p:nvPr/>
        </p:nvSpPr>
        <p:spPr>
          <a:xfrm>
            <a:off x="3383280" y="1920240"/>
            <a:ext cx="2468880" cy="2743200"/>
          </a:xfrm>
          <a:prstGeom prst="rect">
            <a:avLst/>
          </a:prstGeom>
          <a:noFill/>
          <a:ln/>
        </p:spPr>
        <p:txBody>
          <a:bodyPr wrap="square" lIns="0" tIns="0" rIns="0" bIns="0" rtlCol="0" anchor="ctr"/>
          <a:lstStyle/>
          <a:p>
            <a:pPr indent="0" marL="0">
              <a:buNone/>
            </a:pPr>
            <a:r>
              <a:rPr lang="en-US" sz="1200" dirty="0">
                <a:solidFill>
                  <a:srgbClr val="C8D8E4"/>
                </a:solidFill>
                <a:latin typeface="Calibri" pitchFamily="34" charset="0"/>
                <a:ea typeface="Calibri" pitchFamily="34" charset="-122"/>
                <a:cs typeface="Calibri" pitchFamily="34" charset="-120"/>
              </a:rPr>
              <a:t>For transparent/clear plastics and juice bottles, the model's attention scattered or focused on labels &amp; backgrounds rather than the material.</a:t>
            </a:r>
            <a:endParaRPr lang="en-US" sz="1200" dirty="0"/>
          </a:p>
        </p:txBody>
      </p:sp>
      <p:sp>
        <p:nvSpPr>
          <p:cNvPr id="10" name="Shape 8"/>
          <p:cNvSpPr/>
          <p:nvPr/>
        </p:nvSpPr>
        <p:spPr>
          <a:xfrm>
            <a:off x="6126480" y="1325880"/>
            <a:ext cx="2743200" cy="3566160"/>
          </a:xfrm>
          <a:prstGeom prst="roundRect">
            <a:avLst>
              <a:gd name="adj" fmla="val 3333"/>
            </a:avLst>
          </a:prstGeom>
          <a:solidFill>
            <a:srgbClr val="1A2B3C"/>
          </a:solidFill>
          <a:ln/>
          <a:effectLst>
            <a:outerShdw sx="100000" sy="100000" kx="0" ky="0" algn="bl" rotWithShape="0" blurRad="101600" dist="25400" dir="2700000">
              <a:srgbClr val="000000">
                <a:alpha val="12000"/>
              </a:srgbClr>
            </a:outerShdw>
          </a:effectLst>
        </p:spPr>
      </p:sp>
      <p:sp>
        <p:nvSpPr>
          <p:cNvPr id="11" name="Text 9"/>
          <p:cNvSpPr/>
          <p:nvPr/>
        </p:nvSpPr>
        <p:spPr>
          <a:xfrm>
            <a:off x="6263640" y="1444752"/>
            <a:ext cx="2468880" cy="411480"/>
          </a:xfrm>
          <a:prstGeom prst="rect">
            <a:avLst/>
          </a:prstGeom>
          <a:noFill/>
          <a:ln/>
        </p:spPr>
        <p:txBody>
          <a:bodyPr wrap="square" lIns="0" tIns="0" rIns="0" bIns="0" rtlCol="0" anchor="ctr"/>
          <a:lstStyle/>
          <a:p>
            <a:pPr indent="0" marL="0">
              <a:buNone/>
            </a:pPr>
            <a:r>
              <a:rPr lang="en-US" sz="1300" b="1" dirty="0">
                <a:solidFill>
                  <a:srgbClr val="0A8754"/>
                </a:solidFill>
                <a:latin typeface="Calibri" pitchFamily="34" charset="0"/>
                <a:ea typeface="Calibri" pitchFamily="34" charset="-122"/>
                <a:cs typeface="Calibri" pitchFamily="34" charset="-120"/>
              </a:rPr>
              <a:t>✅  Correct — Non-Plastic</a:t>
            </a:r>
            <a:endParaRPr lang="en-US" sz="1300" dirty="0"/>
          </a:p>
        </p:txBody>
      </p:sp>
      <p:sp>
        <p:nvSpPr>
          <p:cNvPr id="12" name="Text 10"/>
          <p:cNvSpPr/>
          <p:nvPr/>
        </p:nvSpPr>
        <p:spPr>
          <a:xfrm>
            <a:off x="6263640" y="1920240"/>
            <a:ext cx="2468880" cy="2743200"/>
          </a:xfrm>
          <a:prstGeom prst="rect">
            <a:avLst/>
          </a:prstGeom>
          <a:noFill/>
          <a:ln/>
        </p:spPr>
        <p:txBody>
          <a:bodyPr wrap="square" lIns="0" tIns="0" rIns="0" bIns="0" rtlCol="0" anchor="ctr"/>
          <a:lstStyle/>
          <a:p>
            <a:pPr indent="0" marL="0">
              <a:buNone/>
            </a:pPr>
            <a:r>
              <a:rPr lang="en-US" sz="1200" dirty="0">
                <a:solidFill>
                  <a:srgbClr val="C8D8E4"/>
                </a:solidFill>
                <a:latin typeface="Calibri" pitchFamily="34" charset="0"/>
                <a:ea typeface="Calibri" pitchFamily="34" charset="-122"/>
                <a:cs typeface="Calibri" pitchFamily="34" charset="-120"/>
              </a:rPr>
              <a:t>Metal cans, paper flyers correctly identified — very low activation scores (0.00–0.03). Model confident in the negative class.</a:t>
            </a:r>
            <a:endParaRPr lang="en-US" sz="1200" dirty="0"/>
          </a:p>
        </p:txBody>
      </p:sp>
      <p:sp>
        <p:nvSpPr>
          <p:cNvPr id="13" name="Text 11"/>
          <p:cNvSpPr/>
          <p:nvPr/>
        </p:nvSpPr>
        <p:spPr>
          <a:xfrm>
            <a:off x="457200" y="4828032"/>
            <a:ext cx="8229600" cy="27432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Insight: The CNN struggles with transparent plastics where texture cues are weak — a known limitation for material-based classification.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indent="0" marL="0">
              <a:buNone/>
            </a:pPr>
            <a:r>
              <a:rPr lang="en-US" sz="3400" b="1" dirty="0">
                <a:solidFill>
                  <a:srgbClr val="0D1B2A"/>
                </a:solidFill>
                <a:latin typeface="Calibri" pitchFamily="34" charset="0"/>
                <a:ea typeface="Calibri" pitchFamily="34" charset="-122"/>
                <a:cs typeface="Calibri" pitchFamily="34" charset="-120"/>
              </a:rPr>
              <a:t>Conclusions &amp; Next Steps</a:t>
            </a:r>
            <a:endParaRPr lang="en-US" sz="3400" dirty="0"/>
          </a:p>
        </p:txBody>
      </p:sp>
      <p:sp>
        <p:nvSpPr>
          <p:cNvPr id="3" name="Shape 1"/>
          <p:cNvSpPr/>
          <p:nvPr/>
        </p:nvSpPr>
        <p:spPr>
          <a:xfrm>
            <a:off x="457200" y="868680"/>
            <a:ext cx="8229600" cy="777240"/>
          </a:xfrm>
          <a:prstGeom prst="roundRect">
            <a:avLst>
              <a:gd name="adj" fmla="val 11765"/>
            </a:avLst>
          </a:prstGeom>
          <a:solidFill>
            <a:srgbClr val="E8F5EE"/>
          </a:solidFill>
          <a:ln/>
          <a:effectLst>
            <a:outerShdw sx="100000" sy="100000" kx="0" ky="0" algn="bl" rotWithShape="0" blurRad="101600" dist="25400" dir="2700000">
              <a:srgbClr val="000000">
                <a:alpha val="12000"/>
              </a:srgbClr>
            </a:outerShdw>
          </a:effectLst>
        </p:spPr>
      </p:sp>
      <p:sp>
        <p:nvSpPr>
          <p:cNvPr id="4" name="Text 2"/>
          <p:cNvSpPr/>
          <p:nvPr/>
        </p:nvSpPr>
        <p:spPr>
          <a:xfrm>
            <a:off x="640080" y="960120"/>
            <a:ext cx="7863840" cy="548640"/>
          </a:xfrm>
          <a:prstGeom prst="rect">
            <a:avLst/>
          </a:prstGeom>
          <a:noFill/>
          <a:ln/>
        </p:spPr>
        <p:txBody>
          <a:bodyPr wrap="square" lIns="0" tIns="0" rIns="0" bIns="0" rtlCol="0" anchor="ctr"/>
          <a:lstStyle/>
          <a:p>
            <a:pPr algn="ctr" indent="0" marL="0">
              <a:buNone/>
            </a:pPr>
            <a:r>
              <a:rPr lang="en-US" sz="1500" b="1" dirty="0">
                <a:solidFill>
                  <a:srgbClr val="0A8754"/>
                </a:solidFill>
                <a:latin typeface="Calibri" pitchFamily="34" charset="0"/>
                <a:ea typeface="Calibri" pitchFamily="34" charset="-122"/>
                <a:cs typeface="Calibri" pitchFamily="34" charset="-120"/>
              </a:rPr>
              <a:t>🏆  MobileNetV2 wins: 94.2% accuracy · 85.3% F1 · AUC 0.979  —  recommended for deployment</a:t>
            </a:r>
            <a:endParaRPr lang="en-US" sz="1500" dirty="0"/>
          </a:p>
        </p:txBody>
      </p:sp>
      <p:sp>
        <p:nvSpPr>
          <p:cNvPr id="5" name="Text 3"/>
          <p:cNvSpPr/>
          <p:nvPr/>
        </p:nvSpPr>
        <p:spPr>
          <a:xfrm>
            <a:off x="457200" y="1874520"/>
            <a:ext cx="4023360" cy="365760"/>
          </a:xfrm>
          <a:prstGeom prst="rect">
            <a:avLst/>
          </a:prstGeom>
          <a:noFill/>
          <a:ln/>
        </p:spPr>
        <p:txBody>
          <a:bodyPr wrap="square" lIns="0" tIns="0" rIns="0" bIns="0" rtlCol="0" anchor="ctr"/>
          <a:lstStyle/>
          <a:p>
            <a:pPr indent="0" marL="0">
              <a:buNone/>
            </a:pPr>
            <a:r>
              <a:rPr lang="en-US" sz="1300" b="1" dirty="0">
                <a:solidFill>
                  <a:srgbClr val="0E9AA7"/>
                </a:solidFill>
                <a:latin typeface="Calibri" pitchFamily="34" charset="0"/>
                <a:ea typeface="Calibri" pitchFamily="34" charset="-122"/>
                <a:cs typeface="Calibri" pitchFamily="34" charset="-120"/>
              </a:rPr>
              <a:t>Key Findings</a:t>
            </a:r>
            <a:endParaRPr lang="en-US" sz="1300" dirty="0"/>
          </a:p>
        </p:txBody>
      </p:sp>
      <p:sp>
        <p:nvSpPr>
          <p:cNvPr id="6" name="Text 4"/>
          <p:cNvSpPr/>
          <p:nvPr/>
        </p:nvSpPr>
        <p:spPr>
          <a:xfrm>
            <a:off x="548640" y="2350008"/>
            <a:ext cx="3931920" cy="457200"/>
          </a:xfrm>
          <a:prstGeom prst="rect">
            <a:avLst/>
          </a:prstGeom>
          <a:noFill/>
          <a:ln/>
        </p:spPr>
        <p:txBody>
          <a:bodyPr wrap="square" lIns="0" tIns="0" rIns="0" bIns="0" rtlCol="0" anchor="ctr"/>
          <a:lstStyle/>
          <a:p>
            <a:pPr indent="0" marL="0">
              <a:buNone/>
            </a:pPr>
            <a:r>
              <a:rPr lang="en-US" sz="1150" dirty="0">
                <a:solidFill>
                  <a:srgbClr val="0D1B2A"/>
                </a:solidFill>
                <a:latin typeface="Calibri" pitchFamily="34" charset="0"/>
                <a:ea typeface="Calibri" pitchFamily="34" charset="-122"/>
                <a:cs typeface="Calibri" pitchFamily="34" charset="-120"/>
              </a:rPr>
              <a:t>▸  Transfer learning (MobileNetV2) vastly outperforms a custom CNN and EfficientNetB0 on small datasets</a:t>
            </a:r>
            <a:endParaRPr lang="en-US" sz="1150" dirty="0"/>
          </a:p>
        </p:txBody>
      </p:sp>
      <p:sp>
        <p:nvSpPr>
          <p:cNvPr id="7" name="Text 5"/>
          <p:cNvSpPr/>
          <p:nvPr/>
        </p:nvSpPr>
        <p:spPr>
          <a:xfrm>
            <a:off x="548640" y="2825496"/>
            <a:ext cx="3931920" cy="457200"/>
          </a:xfrm>
          <a:prstGeom prst="rect">
            <a:avLst/>
          </a:prstGeom>
          <a:noFill/>
          <a:ln/>
        </p:spPr>
        <p:txBody>
          <a:bodyPr wrap="square" lIns="0" tIns="0" rIns="0" bIns="0" rtlCol="0" anchor="ctr"/>
          <a:lstStyle/>
          <a:p>
            <a:pPr indent="0" marL="0">
              <a:buNone/>
            </a:pPr>
            <a:r>
              <a:rPr lang="en-US" sz="1150" dirty="0">
                <a:solidFill>
                  <a:srgbClr val="0D1B2A"/>
                </a:solidFill>
                <a:latin typeface="Calibri" pitchFamily="34" charset="0"/>
                <a:ea typeface="Calibri" pitchFamily="34" charset="-122"/>
                <a:cs typeface="Calibri" pitchFamily="34" charset="-120"/>
              </a:rPr>
              <a:t>▸  Class imbalance is the central challenge — models default to majority class without careful handling</a:t>
            </a:r>
            <a:endParaRPr lang="en-US" sz="1150" dirty="0"/>
          </a:p>
        </p:txBody>
      </p:sp>
      <p:sp>
        <p:nvSpPr>
          <p:cNvPr id="8" name="Text 6"/>
          <p:cNvSpPr/>
          <p:nvPr/>
        </p:nvSpPr>
        <p:spPr>
          <a:xfrm>
            <a:off x="548640" y="3300984"/>
            <a:ext cx="3931920" cy="457200"/>
          </a:xfrm>
          <a:prstGeom prst="rect">
            <a:avLst/>
          </a:prstGeom>
          <a:noFill/>
          <a:ln/>
        </p:spPr>
        <p:txBody>
          <a:bodyPr wrap="square" lIns="0" tIns="0" rIns="0" bIns="0" rtlCol="0" anchor="ctr"/>
          <a:lstStyle/>
          <a:p>
            <a:pPr indent="0" marL="0">
              <a:buNone/>
            </a:pPr>
            <a:r>
              <a:rPr lang="en-US" sz="1150" dirty="0">
                <a:solidFill>
                  <a:srgbClr val="0D1B2A"/>
                </a:solidFill>
                <a:latin typeface="Calibri" pitchFamily="34" charset="0"/>
                <a:ea typeface="Calibri" pitchFamily="34" charset="-122"/>
                <a:cs typeface="Calibri" pitchFamily="34" charset="-120"/>
              </a:rPr>
              <a:t>▸  Accuracy alone is misleading: EfficientNetB0 scored 80.8% accuracy while completely failing plastic detection</a:t>
            </a:r>
            <a:endParaRPr lang="en-US" sz="1150" dirty="0"/>
          </a:p>
        </p:txBody>
      </p:sp>
      <p:sp>
        <p:nvSpPr>
          <p:cNvPr id="9" name="Text 7"/>
          <p:cNvSpPr/>
          <p:nvPr/>
        </p:nvSpPr>
        <p:spPr>
          <a:xfrm>
            <a:off x="548640" y="3776472"/>
            <a:ext cx="3931920" cy="457200"/>
          </a:xfrm>
          <a:prstGeom prst="rect">
            <a:avLst/>
          </a:prstGeom>
          <a:noFill/>
          <a:ln/>
        </p:spPr>
        <p:txBody>
          <a:bodyPr wrap="square" lIns="0" tIns="0" rIns="0" bIns="0" rtlCol="0" anchor="ctr"/>
          <a:lstStyle/>
          <a:p>
            <a:pPr indent="0" marL="0">
              <a:buNone/>
            </a:pPr>
            <a:r>
              <a:rPr lang="en-US" sz="1150" dirty="0">
                <a:solidFill>
                  <a:srgbClr val="0D1B2A"/>
                </a:solidFill>
                <a:latin typeface="Calibri" pitchFamily="34" charset="0"/>
                <a:ea typeface="Calibri" pitchFamily="34" charset="-122"/>
                <a:cs typeface="Calibri" pitchFamily="34" charset="-120"/>
              </a:rPr>
              <a:t>▸  Grad-CAM reveals CNN weakness with transparent materials</a:t>
            </a:r>
            <a:endParaRPr lang="en-US" sz="1150" dirty="0"/>
          </a:p>
        </p:txBody>
      </p:sp>
      <p:sp>
        <p:nvSpPr>
          <p:cNvPr id="10" name="Text 8"/>
          <p:cNvSpPr/>
          <p:nvPr/>
        </p:nvSpPr>
        <p:spPr>
          <a:xfrm>
            <a:off x="4754880" y="1874520"/>
            <a:ext cx="4023360" cy="365760"/>
          </a:xfrm>
          <a:prstGeom prst="rect">
            <a:avLst/>
          </a:prstGeom>
          <a:noFill/>
          <a:ln/>
        </p:spPr>
        <p:txBody>
          <a:bodyPr wrap="square" lIns="0" tIns="0" rIns="0" bIns="0" rtlCol="0" anchor="ctr"/>
          <a:lstStyle/>
          <a:p>
            <a:pPr indent="0" marL="0">
              <a:buNone/>
            </a:pPr>
            <a:r>
              <a:rPr lang="en-US" sz="1300" b="1" dirty="0">
                <a:solidFill>
                  <a:srgbClr val="0A8754"/>
                </a:solidFill>
                <a:latin typeface="Calibri" pitchFamily="34" charset="0"/>
                <a:ea typeface="Calibri" pitchFamily="34" charset="-122"/>
                <a:cs typeface="Calibri" pitchFamily="34" charset="-120"/>
              </a:rPr>
              <a:t>Recommended Next Steps</a:t>
            </a:r>
            <a:endParaRPr lang="en-US" sz="1300" dirty="0"/>
          </a:p>
        </p:txBody>
      </p:sp>
      <p:sp>
        <p:nvSpPr>
          <p:cNvPr id="11" name="Text 9"/>
          <p:cNvSpPr/>
          <p:nvPr/>
        </p:nvSpPr>
        <p:spPr>
          <a:xfrm>
            <a:off x="4846320" y="2350008"/>
            <a:ext cx="3931920" cy="457200"/>
          </a:xfrm>
          <a:prstGeom prst="rect">
            <a:avLst/>
          </a:prstGeom>
          <a:noFill/>
          <a:ln/>
        </p:spPr>
        <p:txBody>
          <a:bodyPr wrap="square" lIns="0" tIns="0" rIns="0" bIns="0" rtlCol="0" anchor="ctr"/>
          <a:lstStyle/>
          <a:p>
            <a:pPr indent="0" marL="0">
              <a:buNone/>
            </a:pPr>
            <a:r>
              <a:rPr lang="en-US" sz="1150" dirty="0">
                <a:solidFill>
                  <a:srgbClr val="0D1B2A"/>
                </a:solidFill>
                <a:latin typeface="Calibri" pitchFamily="34" charset="0"/>
                <a:ea typeface="Calibri" pitchFamily="34" charset="-122"/>
                <a:cs typeface="Calibri" pitchFamily="34" charset="-120"/>
              </a:rPr>
              <a:t>▸  Apply class weighting or oversampling (SMOTE) to fix imbalance</a:t>
            </a:r>
            <a:endParaRPr lang="en-US" sz="1150" dirty="0"/>
          </a:p>
        </p:txBody>
      </p:sp>
      <p:sp>
        <p:nvSpPr>
          <p:cNvPr id="12" name="Text 10"/>
          <p:cNvSpPr/>
          <p:nvPr/>
        </p:nvSpPr>
        <p:spPr>
          <a:xfrm>
            <a:off x="4846320" y="2825496"/>
            <a:ext cx="3931920" cy="457200"/>
          </a:xfrm>
          <a:prstGeom prst="rect">
            <a:avLst/>
          </a:prstGeom>
          <a:noFill/>
          <a:ln/>
        </p:spPr>
        <p:txBody>
          <a:bodyPr wrap="square" lIns="0" tIns="0" rIns="0" bIns="0" rtlCol="0" anchor="ctr"/>
          <a:lstStyle/>
          <a:p>
            <a:pPr indent="0" marL="0">
              <a:buNone/>
            </a:pPr>
            <a:r>
              <a:rPr lang="en-US" sz="1150" dirty="0">
                <a:solidFill>
                  <a:srgbClr val="0D1B2A"/>
                </a:solidFill>
                <a:latin typeface="Calibri" pitchFamily="34" charset="0"/>
                <a:ea typeface="Calibri" pitchFamily="34" charset="-122"/>
                <a:cs typeface="Calibri" pitchFamily="34" charset="-120"/>
              </a:rPr>
              <a:t>▸  Add more diverse plastic images — especially transparent/clear items</a:t>
            </a:r>
            <a:endParaRPr lang="en-US" sz="1150" dirty="0"/>
          </a:p>
        </p:txBody>
      </p:sp>
      <p:sp>
        <p:nvSpPr>
          <p:cNvPr id="13" name="Text 11"/>
          <p:cNvSpPr/>
          <p:nvPr/>
        </p:nvSpPr>
        <p:spPr>
          <a:xfrm>
            <a:off x="4846320" y="3300984"/>
            <a:ext cx="3931920" cy="457200"/>
          </a:xfrm>
          <a:prstGeom prst="rect">
            <a:avLst/>
          </a:prstGeom>
          <a:noFill/>
          <a:ln/>
        </p:spPr>
        <p:txBody>
          <a:bodyPr wrap="square" lIns="0" tIns="0" rIns="0" bIns="0" rtlCol="0" anchor="ctr"/>
          <a:lstStyle/>
          <a:p>
            <a:pPr indent="0" marL="0">
              <a:buNone/>
            </a:pPr>
            <a:r>
              <a:rPr lang="en-US" sz="1150" dirty="0">
                <a:solidFill>
                  <a:srgbClr val="0D1B2A"/>
                </a:solidFill>
                <a:latin typeface="Calibri" pitchFamily="34" charset="0"/>
                <a:ea typeface="Calibri" pitchFamily="34" charset="-122"/>
                <a:cs typeface="Calibri" pitchFamily="34" charset="-120"/>
              </a:rPr>
              <a:t>▸  Fine-tune MobileNetV2 further with progressive unfreezing</a:t>
            </a:r>
            <a:endParaRPr lang="en-US" sz="1150" dirty="0"/>
          </a:p>
        </p:txBody>
      </p:sp>
      <p:sp>
        <p:nvSpPr>
          <p:cNvPr id="14" name="Text 12"/>
          <p:cNvSpPr/>
          <p:nvPr/>
        </p:nvSpPr>
        <p:spPr>
          <a:xfrm>
            <a:off x="4846320" y="3776472"/>
            <a:ext cx="3931920" cy="457200"/>
          </a:xfrm>
          <a:prstGeom prst="rect">
            <a:avLst/>
          </a:prstGeom>
          <a:noFill/>
          <a:ln/>
        </p:spPr>
        <p:txBody>
          <a:bodyPr wrap="square" lIns="0" tIns="0" rIns="0" bIns="0" rtlCol="0" anchor="ctr"/>
          <a:lstStyle/>
          <a:p>
            <a:pPr indent="0" marL="0">
              <a:buNone/>
            </a:pPr>
            <a:r>
              <a:rPr lang="en-US" sz="1150" dirty="0">
                <a:solidFill>
                  <a:srgbClr val="0D1B2A"/>
                </a:solidFill>
                <a:latin typeface="Calibri" pitchFamily="34" charset="0"/>
                <a:ea typeface="Calibri" pitchFamily="34" charset="-122"/>
                <a:cs typeface="Calibri" pitchFamily="34" charset="-120"/>
              </a:rPr>
              <a:t>▸  Deploy MobileNetV2 in a real-time waste-sorting prototype</a:t>
            </a:r>
            <a:endParaRPr lang="en-US" sz="1150" dirty="0"/>
          </a:p>
        </p:txBody>
      </p:sp>
      <p:sp>
        <p:nvSpPr>
          <p:cNvPr id="15" name="Text 13"/>
          <p:cNvSpPr/>
          <p:nvPr/>
        </p:nvSpPr>
        <p:spPr>
          <a:xfrm>
            <a:off x="4846320" y="4251960"/>
            <a:ext cx="3931920" cy="457200"/>
          </a:xfrm>
          <a:prstGeom prst="rect">
            <a:avLst/>
          </a:prstGeom>
          <a:noFill/>
          <a:ln/>
        </p:spPr>
        <p:txBody>
          <a:bodyPr wrap="square" lIns="0" tIns="0" rIns="0" bIns="0" rtlCol="0" anchor="ctr"/>
          <a:lstStyle/>
          <a:p>
            <a:pPr indent="0" marL="0">
              <a:buNone/>
            </a:pPr>
            <a:r>
              <a:rPr lang="en-US" sz="1150" dirty="0">
                <a:solidFill>
                  <a:srgbClr val="0D1B2A"/>
                </a:solidFill>
                <a:latin typeface="Calibri" pitchFamily="34" charset="0"/>
                <a:ea typeface="Calibri" pitchFamily="34" charset="-122"/>
                <a:cs typeface="Calibri" pitchFamily="34" charset="-120"/>
              </a:rPr>
              <a:t>▸  Extend to multi-class (6 categories) with the same transfer approach</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Plastic Detection with Deep Learning</dc:title>
  <dc:subject>PptxGenJS Presentation</dc:subject>
  <dc:creator>PptxGenJS</dc:creator>
  <cp:lastModifiedBy>PptxGenJS</cp:lastModifiedBy>
  <cp:revision>1</cp:revision>
  <dcterms:created xsi:type="dcterms:W3CDTF">2026-06-28T13:51:52Z</dcterms:created>
  <dcterms:modified xsi:type="dcterms:W3CDTF">2026-06-28T13:51:52Z</dcterms:modified>
</cp:coreProperties>
</file>